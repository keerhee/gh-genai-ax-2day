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362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</a:t>
            </a:r>
            <a:endParaRPr lang="en-US" sz="4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클로드로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3520440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 · VLOOKUP · 차트를 문장으로 시키는 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3504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 · 참고자료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59618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385048" y="960120"/>
            <a:ext cx="2478024" cy="4087368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385048" y="960120"/>
            <a:ext cx="2478024" cy="817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 기능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5048" y="1777594"/>
            <a:ext cx="2478024" cy="817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5048" y="2595067"/>
            <a:ext cx="2478024" cy="817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5048" y="3412541"/>
            <a:ext cx="2478024" cy="817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85048" y="4230014"/>
            <a:ext cx="2478024" cy="817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 파일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 · 참고자료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 마우스로 하던 일이 어떤 말이 되는지 순서대로 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103120"/>
            <a:ext cx="731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435608" y="2505456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578608" y="210312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도구가 셋이다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19088" y="210312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고르는 기준은 “다음 달”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19088" y="2505456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 · 클로드 대화창 · 클로드 코드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295351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8368" y="2999232"/>
            <a:ext cx="731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435608" y="3401568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578608" y="2999232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 대응표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19088" y="299923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 · VLOOKUP · 조건 집계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19088" y="3401568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그대로 복사해 쓰는 문장 13개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" y="384962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58368" y="3895344"/>
            <a:ext cx="731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435608" y="4297680"/>
            <a:ext cx="822960" cy="0"/>
          </a:xfrm>
          <a:prstGeom prst="line">
            <a:avLst/>
          </a:prstGeom>
          <a:noFill/>
          <a:ln w="3175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578608" y="3895344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그래프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19088" y="3895344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보여줄지부터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19088" y="429768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 고르기 · 프롬프트 5요소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8368" y="474573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58368" y="4791456"/>
            <a:ext cx="731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435608" y="5193792"/>
            <a:ext cx="822960" cy="0"/>
          </a:xfrm>
          <a:prstGeom prst="line">
            <a:avLst/>
          </a:prstGeom>
          <a:noFill/>
          <a:ln w="31750">
            <a:solidFill>
              <a:srgbClr val="B7F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2578608" y="4791456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함정과 균형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419088" y="4791456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막히는 곳 · 엑셀의 자리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19088" y="519379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한글 깨짐 · 인코딩 · 검산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844253" y="5705856"/>
            <a:ext cx="8409005" cy="0"/>
          </a:xfrm>
          <a:prstGeom prst="line">
            <a:avLst/>
          </a:prstGeom>
          <a:noFill/>
          <a:ln w="44450">
            <a:solidFill>
              <a:srgbClr val="0B6B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58368" y="5852160"/>
            <a:ext cx="10780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엑셀을 버리는 것이 아니라, 반복되는 부분만 넘기는 것입니다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 · 참고자료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매달 같은 손동작을 반복하고 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피벗을 다시 만들고, 서식을 다시 잡고, 담당자가 바뀌면 처음부터.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19072"/>
            <a:ext cx="4480560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958584" y="1719072"/>
            <a:ext cx="4480560" cy="3712464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87552" y="197510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2432304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엑셀로 매달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24128" y="3035808"/>
            <a:ext cx="37307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피벗을 다시 만든다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서식을 다시 잡는다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보고서로 옮겨 적는다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87552" y="413308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달 뒤 남는 것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4407408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 파일 하나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87768" y="197510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87768" y="2432304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클로드로 한 번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24344" y="3035808"/>
            <a:ext cx="37307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규칙을 한 번 말한다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절차가 같이 남는다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달엔 파일만 바꾼다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287768" y="413308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달 뒤 남는 것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87768" y="4407408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다시 돌릴 수 있는 절차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38928" y="3099816"/>
            <a:ext cx="1819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22976" y="3575304"/>
            <a:ext cx="1051560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49808" y="5632704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차이는 속도가 아니라, 만드는 과정이 남느냐입니다.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9808" y="608990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엑셀은 결과만 남습니다. 그래서 다음 달에 처음부터 다시 하게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 · 참고자료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도구가 셋입니다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 작업 대부분은 클로드 대화창에서 그냥 됩니다.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92224"/>
            <a:ext cx="3343656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· 엑셀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즉석 계산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294436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10512" y="294436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직접 입력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358444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10512" y="358444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xlsx 하나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22452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10512" y="422452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처음부터 다시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87552" y="4791456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남이 셀을 고쳐야 할 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76928" y="1792224"/>
            <a:ext cx="3343656" cy="3529584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0611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 · 클로드 대화창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611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한 번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4632960" y="294436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29072" y="294436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 업로드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32960" y="358444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29072" y="358444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답변 · 표 · 차트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4632960" y="422452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29072" y="422452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다시 올려 설명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706112" y="4791456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연락처는 지우고 올린다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95488" y="1792224"/>
            <a:ext cx="3343656" cy="3529584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424672" y="2048256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 · 클로드 코드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24672" y="2432304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매달 반복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8351520" y="294436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47632" y="294436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PC 폴더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51520" y="358444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247632" y="358444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 + 절차 + 기록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8351520" y="422452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247632" y="4224528"/>
            <a:ext cx="1935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파일만 바꿔 실행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424672" y="4791456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파일이 밖으로 안 나간다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49808" y="557784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고르는 기준은 기능이 아니라 “다음 달에도 하는가”입니다.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 · 참고자료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기준선 하나만 기억하면 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문장이 대화창과 클로드 코드 양쪽에서 그대로 통합니다.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883664"/>
            <a:ext cx="3105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8368" y="2103120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한 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8096" y="2450592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민원 794행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8096" y="3285744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달치 분석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8096" y="4120896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대화창으로 충분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892296" y="3529584"/>
            <a:ext cx="4754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495800" y="1883664"/>
            <a:ext cx="3105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495800" y="2103120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매달 같은 형식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05528" y="2450592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12개월 반복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05528" y="3285744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 서식 고정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05528" y="4120896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클로드 코드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729728" y="3529584"/>
            <a:ext cx="4754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333232" y="1883664"/>
            <a:ext cx="3105912" cy="329184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333232" y="2103120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바뀌지 않는 것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42960" y="2450592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시키는 문장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442960" y="3285744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“행정동별로 묶어서…”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42960" y="4120896"/>
            <a:ext cx="2886456" cy="835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양쪽 동일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844253" y="5577840"/>
            <a:ext cx="8409005" cy="0"/>
          </a:xfrm>
          <a:prstGeom prst="line">
            <a:avLst/>
          </a:prstGeom>
          <a:noFill/>
          <a:ln w="44450">
            <a:solidFill>
              <a:srgbClr val="0B6B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58368" y="5724144"/>
            <a:ext cx="10780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문장을 배워 두면 도구가 바뀌어도 그대로 쓰입니다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 기능을 문장으로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마우스로 하던 조작마다, 대신 하는 말이 있다.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 · 참고자료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피벗테이블 — 묶어서 집계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 가장 많이 쓰는 기능이자, 문장으로 바꾸기 가장 쉬운 기능입니다.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19072"/>
            <a:ext cx="4480560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958584" y="1719072"/>
            <a:ext cx="4480560" cy="3712464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87552" y="197510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2432304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네 칸에 끌어다 놓기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24128" y="3035808"/>
            <a:ext cx="37307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 — 묶을 기준 (행정동)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열 — 둘째 기준 (민원유형)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값 — 계산할 숫자 (처리일수)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87552" y="413308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4407408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 하나 · 만든 과정은 안 남음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87768" y="197510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클로드에는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87768" y="2432304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문장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24344" y="3035808"/>
            <a:ext cx="37307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“행정동별로 묶어서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건수와 평균 처리일수를 표로,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건수 많은 순으로 정렬해줘”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287768" y="413308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87768" y="4407408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 + CSV + 계산식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522976" y="3575304"/>
            <a:ext cx="1051560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49808" y="5614416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교차표가 필요하면 — “행에 행정동, 열에 민원유형을 놓고 평균 처리일수로”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49808" y="605332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엑셀 피벗은 값을 바꾸면 새로고침해야 하지만, 문장은 파일만 바꿔 다시 말하면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 · 참고자료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VLOOKUP — 다른 표에서 값 붙이기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실무에서 가장 자주 깨지는 수식이자, 문장으로 바꾸면 오히려 안전해지는 기능입니다.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719072"/>
            <a:ext cx="4480560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958584" y="1719072"/>
            <a:ext cx="4480560" cy="3712464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87552" y="197510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52" y="2432304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수식이 깨지는 자리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24128" y="3035808"/>
            <a:ext cx="37307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범위를 안 고정하면 밀린다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#N/A를 따로 세야 한다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공백 한 칸에 실패한다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87552" y="413308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4407408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맞는지 눈으로 확인해야 함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87768" y="197510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클로드에는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87768" y="2432304"/>
            <a:ext cx="38221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찾기 + 검증을 한 번에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24344" y="3035808"/>
            <a:ext cx="37307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“부서코드에 부서목록의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부서명을 붙여줘.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못 찾은 건 따로 보여줘”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287768" y="413308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87768" y="4407408"/>
            <a:ext cx="382219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병합본 + 미매칭 목록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522976" y="3575304"/>
            <a:ext cx="1051560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49808" y="5614416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“못 찾은 건 따로 보여줘” — 이 한마디가 #N/A를 세는 일을 대신합니다.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 · 참고자료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나머지 기능도 문장이 정해져 있습니다 (1/2)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집계와 정제 — 실습 1·2에서 그대로 씁니다.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98648" y="2011680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클로드에 이렇게 말한다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33688" y="2011680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4688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COUNTIF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898648" y="246888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접수채널이 국민신문고인 건수와 평균 만족도를 알려줘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933688" y="2468880"/>
            <a:ext cx="25054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 + 계산식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" y="32369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8368" y="33832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필터 · 정렬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898648" y="338328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처리일수가 전체 평균의 1.5배를 넘는 건만 뽑아 CSV로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933688" y="3383280"/>
            <a:ext cx="25054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CSV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8368" y="41513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58368" y="42976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제거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898648" y="429768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완전히 같은 행을 세고, 지운 전후 행수를 알려줘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8933688" y="4297680"/>
            <a:ext cx="25054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제거 근거표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8368" y="50657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58368" y="52120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찾기 · 바꾸기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2898648" y="521208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‘국민 신문고’ 같은 다른 표기를 목록으로 먼저 보여줘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933688" y="5212080"/>
            <a:ext cx="25054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변경 이력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59801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49808" y="596188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“먼저 보여줘”를 붙이면 승인 뒤에 바꿉니다. 원본을 지키는 습관입니다.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 · 참고자료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나머지 기능도 문장이 정해져 있습니다 (2/2)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점검과 분류 — 실습 3에서 그대로 씁니다.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98648" y="2011680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클로드에 이렇게 말한다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33688" y="2011680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남는 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4688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텍스트 나누기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898648" y="246888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주소 컬럼에서 행정동만 떼어 새 컬럼으로 만들어줘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933688" y="2468880"/>
            <a:ext cx="25054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정제본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" y="32369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8368" y="33832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유효성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898648" y="338328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처리일수가 음수이거나 365를 넘는 행을 찾아줘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933688" y="3383280"/>
            <a:ext cx="25054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오류 목록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8368" y="41513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58368" y="42976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IF 중첩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898648" y="429768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‘종량제·꽁초’가 있으면 일반생활폐기물로 분류해줘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933688" y="4297680"/>
            <a:ext cx="25054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분류본 + 보류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8368" y="50657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58368" y="52120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조건부 서식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2898648" y="521208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평균보다 1.5배 느린 행정동을 빨강으로 칠한 표를 HTML로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933688" y="5212080"/>
            <a:ext cx="25054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 화면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59801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749808" y="596188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수식 채우기(드래그)는 대응이 없습니다. 규칙을 한 번 말하면 794행 전체에 적용됩니다.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 · 참고자료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엑셀에는 없는 두 마디가 실무에서 더 자주 쓰입니다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표를 만드는 것보다, 표를 믿을 수 있게 만드는 말입니다.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5116068" cy="292608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" y="2359152"/>
            <a:ext cx="44577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· 물어보기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743200"/>
            <a:ext cx="44577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“이 컬럼이 뭘 뜻하는지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값을 보고 추측해줘”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552" y="4498848"/>
            <a:ext cx="44577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인수인계 없이 받은 파일 앞에서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23076" y="2103120"/>
            <a:ext cx="5116068" cy="292608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652260" y="2359152"/>
            <a:ext cx="44577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· 되짚기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52260" y="2743200"/>
            <a:ext cx="44577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“이 숫자가 어떻게 나온 건지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원본에서 다시 세어줘”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52260" y="4498848"/>
            <a:ext cx="44577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결재 직전 검산 · 가장 강력한 한마디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" y="5577840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엑셀은 물어볼 수 없습니다. 이 차이가 결재 속도를 바꿉니다.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그래프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 종류를 고르는 게 아니라, 무엇을 보여줄지를 말한다.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 · 참고자료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왼쪽 칸을 먼저 고르면 차트는 따라옵니다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엑셀은 범위 → 차트 종류 순서지만, 클로드는 반대입니다.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88366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보여줄 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61488" y="1883664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93208" y="1883664"/>
            <a:ext cx="6345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이렇게 말한다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340864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 흐름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761488" y="2340864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선그래프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93208" y="2340864"/>
            <a:ext cx="6345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월별 총민원 추이를. 평균은 회색 점선으로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" y="290779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8368" y="305409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항목 비교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761488" y="3054096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가로막대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93208" y="3054096"/>
            <a:ext cx="6345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행정동별 평균 처리일수를 큰 순서대로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8368" y="362102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58368" y="3767328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구성비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761488" y="376732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100% 누적막대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93208" y="3767328"/>
            <a:ext cx="6345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행정동별 접수채널 구성비를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8368" y="433425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58368" y="4480560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퍼짐 정도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2761488" y="4480560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히스토그램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093208" y="4480560"/>
            <a:ext cx="6345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처리일수 분포를. 극단값도 같이 봐줘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504748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58368" y="5193792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두 값의 관계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2761488" y="5193792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산점도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093208" y="5193792"/>
            <a:ext cx="6345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처리일수와 만족도 관계를. 이름도 붙여서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58368" y="576072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49808" y="599846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파이는 항목이 5개를 넘으면 못 읽습니다. 보고서의 파이는 대부분 가로막대가 낫습니다.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 · 참고자료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그래프 프롬프트에 반드시 넣을 다섯 가지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하나만 빠져도 다시 그리게 됩니다. 특히 세 번째.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1936699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" y="2990088"/>
            <a:ext cx="12783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3374136"/>
            <a:ext cx="1278331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어느 파일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어느 컬럼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69387" y="2103120"/>
            <a:ext cx="1936699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198571" y="2990088"/>
            <a:ext cx="12783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98571" y="3374136"/>
            <a:ext cx="1278331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어떤 차트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80406" y="2103120"/>
            <a:ext cx="1936699" cy="2560320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09590" y="2990088"/>
            <a:ext cx="12783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· 핵심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09590" y="3374136"/>
            <a:ext cx="1278331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한글 폰트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지정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291426" y="2103120"/>
            <a:ext cx="1936699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620610" y="2990088"/>
            <a:ext cx="12783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20610" y="3374136"/>
            <a:ext cx="1278331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제목 · 축</a:t>
            </a:r>
            <a:endParaRPr lang="en-US" sz="1950" dirty="0"/>
          </a:p>
          <a:p>
            <a:pPr marL="0" indent="0">
              <a:buNone/>
            </a:pPr>
            <a:r>
              <a:rPr lang="en-US" sz="195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단위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02445" y="2103120"/>
            <a:ext cx="1936699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831629" y="2990088"/>
            <a:ext cx="12783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31629" y="3374136"/>
            <a:ext cx="1278331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저장 형식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크기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9808" y="5230368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폰트를 안 적으면 한글이 □□□로 나옵니다. 가장 흔한 실패입니다.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9808" y="587044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“한글 폰트는 맑은 고딕, 없으면 NanumGothic으로 지정해줘” — 이 한 줄이면 끝납니다.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CHART PROMPT · 그대로 복사해 씁니다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완성 프롬프트 — 파일명과 컬럼만 바꾸면 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481328"/>
            <a:ext cx="10780776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10085832" cy="62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[데이터]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03_complaints_monthly.csv의 월 · 총민원 컬럼을 쓴다.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26009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324100"/>
            <a:ext cx="10085832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[차트]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월별 총민원 건수 추이를 선그래프로 그린다. 12개월 전체 평균을 회색 점선으로 함께 긋고, 가장 높은 달에만 값을 표시한다.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353415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3598164"/>
            <a:ext cx="10085832" cy="62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[폰트]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한글이 깨지지 않게 맑은 고딕(없으면 NanumGothic)으로 지정한다.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421233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4276344"/>
            <a:ext cx="10085832" cy="62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[라벨]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제목은 ‘2026년 월별 민원 접수’, y축 이름은 ‘건수’로 한다.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489051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4954524"/>
            <a:ext cx="10085832" cy="62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[저장]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PNG 1200×600, 150dpi로 monthly_trend.png에 저장한다.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" y="590702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다섯 줄의 순서는 바꿔도 됩니다. 다만 다섯 가지가 다 있어야 한 번에 나옵니다.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 · 참고자료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그래프를 받는 방법이 셋입니다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어디에 쓸 것인지에 따라 달라집니다.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883664"/>
            <a:ext cx="310591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8368" y="2103120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이미지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8096" y="2450592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PNG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68096" y="3255264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보고서·기안문에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8096" y="4059936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붙일 때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892296" y="3483864"/>
            <a:ext cx="4754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495800" y="1883664"/>
            <a:ext cx="3105912" cy="3200400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495800" y="2103120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웹 화면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05528" y="2450592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HTML 앱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05528" y="3255264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조건을 바꿔가며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05528" y="4059936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볼 때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729728" y="3483864"/>
            <a:ext cx="4754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333232" y="1883664"/>
            <a:ext cx="310591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333232" y="2103120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엑셀 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42960" y="2450592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xlsx 차트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442960" y="3255264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결재라인이 원본을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42960" y="4059936"/>
            <a:ext cx="2886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요구할 때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9808" y="5431536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“결과를 차트가 들어간 엑셀 파일로 만들어줘” — 셋째도 한 문장입니다.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9808" y="596188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실습에서 만드는 대시보드가 ②입니다. 파일 하나로 돌고 인터넷이 필요 없습니다.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막히는 곳과 엑셀의 자리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미리 알면 30분을 아낀다. 그리고 엑셀을 언제 남길지도 정해 둔다.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 · 참고자료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여기서 자주 막힙니다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여섯 가지 모두 한 문장으로 풀립니다.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88366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증상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93008" y="188366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19088" y="1883664"/>
            <a:ext cx="5020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이렇게 말한다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340864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한글이 □□□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493008" y="2340864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 폰트 미지정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19088" y="2340864"/>
            <a:ext cx="5020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한글 폰트를 찾아서 적용해줘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" y="290779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8368" y="3054096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글자가 깨진 CSV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493008" y="3054096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CP949 인코딩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19088" y="3054096"/>
            <a:ext cx="5020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UTF-8로 다시 저장부터 해줘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8368" y="362102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58368" y="3767328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합계가 엑셀과 다름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493008" y="3767328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빈 값·오류 행 제외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19088" y="3767328"/>
            <a:ext cx="5020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몇 행을 제외했는지 알려줘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8368" y="433425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58368" y="4480560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숫자가 계산 안 됨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3493008" y="4480560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천 단위 콤마·공백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19088" y="4480560"/>
            <a:ext cx="5020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숫자로 바꾸고 실패한 값은 목록으로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504748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58368" y="5193792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파일이 너무 큼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3493008" y="5193792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전국 단위 수십만 행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419088" y="5193792"/>
            <a:ext cx="5020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관할과 기간으로 먼저 잘라줘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58368" y="576072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49808" y="599846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결과를 못 믿겠을 때 — “원본에서 다시 세어 검산표를 만들어줘”가 가장 강력합니다.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 · 참고자료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엑셀이 여전히 나은 세 경우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대체가 아니라 분업입니다.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33436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20행짜리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즉석 계산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7552" y="4407408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설명하는 시간이 더 길다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76928" y="2103120"/>
            <a:ext cx="33436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0611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611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남이 셀을 직접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고쳐야 하는 양식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706112" y="4407408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부서 취합 서식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95488" y="2103120"/>
            <a:ext cx="3343656" cy="2834640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424672" y="2359152"/>
            <a:ext cx="2685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4672" y="2743200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결재라인이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 원본 요구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424672" y="4407408"/>
            <a:ext cx="2685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xlsx로 내보내면 해결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5468112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반복되는 정제·집계·차트는 클로드가, 마지막 사람 손은 엑셀이 맡습니다.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 · 참고자료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실습이 곧 이 표입니다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새로 배우는 게 아니라, 하던 일을 다른 방식으로 하는 것입니다.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84708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93008" y="184708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하는 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99248" y="1847088"/>
            <a:ext cx="3739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엑셀로 치면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304288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 · 품질검사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493008" y="2304288"/>
            <a:ext cx="4206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중복·결측·표기 흔들림 잡기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699248" y="2304288"/>
            <a:ext cx="3739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제거 + 찾기·바꾸기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" y="283464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8368" y="2980944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 · KPI · 세그먼트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493008" y="2980944"/>
            <a:ext cx="4206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행정동·유형별 비교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699248" y="2980944"/>
            <a:ext cx="3739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피벗테이블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58368" y="351129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58368" y="3657600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 · 원인 후보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493008" y="3657600"/>
            <a:ext cx="4206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느린 곳을 찾아 강조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699248" y="3657600"/>
            <a:ext cx="3739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 + 조건부 서식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58368" y="418795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58368" y="4334256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 · 예측 · 시각화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3493008" y="4334256"/>
            <a:ext cx="4206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추이 그리기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699248" y="4334256"/>
            <a:ext cx="3739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58368" y="486460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58368" y="5010912"/>
            <a:ext cx="2834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 · 1페이지 보고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3493008" y="5010912"/>
            <a:ext cx="4206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숫자를 문장으로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7699248" y="5010912"/>
            <a:ext cx="3739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엑셀에는 없는 단계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658368" y="554126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844253" y="5632704"/>
            <a:ext cx="8409005" cy="0"/>
          </a:xfrm>
          <a:prstGeom prst="line">
            <a:avLst/>
          </a:prstGeom>
          <a:noFill/>
          <a:ln w="44450">
            <a:solidFill>
              <a:srgbClr val="0B6B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58368" y="5779008"/>
            <a:ext cx="10780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다섯 번째 칸이 오늘 배우는 것의 전부입니다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031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8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58368" y="3456432"/>
            <a:ext cx="1078077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— 대시보드 하나로 합치기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4261104"/>
            <a:ext cx="3840480" cy="0"/>
          </a:xfrm>
          <a:prstGeom prst="line">
            <a:avLst/>
          </a:prstGeom>
          <a:noFill/>
          <a:ln w="38100">
            <a:solidFill>
              <a:srgbClr val="0B6B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4425696"/>
            <a:ext cx="10780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앞의 기능들을 순서대로 쌓으면, 매달 쓰는 화면 하나가 남는다.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 · 참고자료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 여섯 개면 대시보드가 나옵니다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01_complaints_raw.csv 794행 → complaint_dashboard.html 한 파일까지.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84708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75688" y="1847088"/>
            <a:ext cx="4434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이렇게 말한다 (요지)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10528" y="1847088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엑셀로 치면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208008" y="1847088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230428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파악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075688" y="2304288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헤더와 첫 5행부터 보여줘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10528" y="2304288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 훑기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208008" y="2304288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컬럼 점검표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8368" y="277977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8368" y="292608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정제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075688" y="2926080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중복과 표기 차이를 먼저 보여줘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10528" y="292608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중복·표기 정리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208008" y="2926080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정제본 CSV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58368" y="3401568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58368" y="3547872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집계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075688" y="3547872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행정동별로 묶어 KPI를 내줘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10528" y="35478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피벗테이블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08008" y="3547872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· 세그먼트 표</a:t>
            </a:r>
            <a:endParaRPr lang="en-US" sz="1750" dirty="0"/>
          </a:p>
        </p:txBody>
      </p:sp>
      <p:sp>
        <p:nvSpPr>
          <p:cNvPr id="26" name="Shape 24"/>
          <p:cNvSpPr/>
          <p:nvPr/>
        </p:nvSpPr>
        <p:spPr>
          <a:xfrm>
            <a:off x="658368" y="4023360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58368" y="4169664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생성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2075688" y="4169664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화면을 HTML 한 파일로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510528" y="4169664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엑셀에는 없음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208008" y="4169664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 1차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58368" y="4645152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58368" y="4791456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개선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2075688" y="4791456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추이 그래프와 강조를 붙여줘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510528" y="4791456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 · 조건부 서식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208008" y="4791456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 2차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58368" y="5266944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58368" y="541324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⑥ 검증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2075688" y="5413248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원본에서 다시 세어 검산표를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510528" y="5413248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엑셀에는 없음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208008" y="5413248"/>
            <a:ext cx="22311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검산표 · README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658368" y="5888736"/>
            <a:ext cx="10780776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749808" y="5870448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④와 ⑥이 엑셀에 대응이 없습니다. 그 둘이 이 작업을 “다음 달에도 쓰는 것”으로 만듭니다.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· STEP 1 · 파악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 — 고치기 전에 파일이 어떤 상태인지부터 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481328"/>
            <a:ext cx="10780776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10085832" cy="62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민원 데이터를 다루는 담당자다. 원본 파일은 어떤 경우에도 수정하지 않는다.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26009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324100"/>
            <a:ext cx="10085832" cy="62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input 폴더에 01_complaints_raw.csv 하나가 있다. 컬럼 구성과 값의 상태를 아직 모른다.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293827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3002280"/>
            <a:ext cx="10085832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헤더와 첫 5행을 그대로 출력하라. 글자가 깨지면 인코딩을 바꿔 다시 읽어라. ② 컬럼마다 결측 수·고유값 수·값 예시 3개를 표로 정리하라. ③ 숫자여야 하는데 문자로 읽힌 컬럼을 지적하라.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421233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4276344"/>
            <a:ext cx="10085832" cy="62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 두 개 — 헤더 미리보기, 컬럼 점검표.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489051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4954524"/>
            <a:ext cx="10085832" cy="62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아직 아무것도 고치지 마라. 판단이 애매하면 임의로 정하지 말고 되물어라.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" y="590702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엑셀로 치면 파일을 열어 훑는 단계입니다. 여기를 건너뛰면 뒤에서 반드시 되돌아옵니다.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· STEP 2 · 정제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 — 무엇을 지울지 먼저 보여 달라고 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481328"/>
            <a:ext cx="10780776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데이터 정제 담당자다. 지운 것은 모두 근거를 남긴다.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17496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238974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컬럼 점검이 끝났다. 중복·표기 흔들림·범위를 벗어난 값이 섞여 있다.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2768019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2832027"/>
            <a:ext cx="10085832" cy="15597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완전히 같은 행과 민원ID만 다른 행을 각각 세어 보고하라. ② ‘국민 신문고’처럼 같은 뜻 다른 표기를 목록으로 먼저 보여줘라. ③ 처리일수 음수·365 초과, 만족도 1~5 밖을 찾아라. ④ 내가 승인하면 clean 폴더에 정제본으로 저장하라.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4382589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4446597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전후 행수 + 항목별 제거 근거표.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497564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5039650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원본은 수정하지 않는다. 지운 행은 행번호와 이유를 남긴다. 연락처는 마스킹한다.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" y="590702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“먼저 보여줘 → 승인 → 저장”. 이 세 박자가 원본을 지키는 습관입니다.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· STEP 3 · 집계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 — 피벗을 문장으로 시키는 자리입니다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481328"/>
            <a:ext cx="10780776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민원 현황을 숫자로 정리해 팀장 보고에 올리는 담당자다.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17496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238974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정제본이 준비됐다. 회의에서 바로 쓸 지표와 비교표가 필요하다.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2768019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2832027"/>
            <a:ext cx="10085832" cy="15597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전체 KPI 다섯 개 — 총건수·완료율·평균 처리일수·재민원율·평균 만족도. ② 행정동별·민원유형별·접수채널별 건수와 평균 처리일수를 표로 만들어라. ③ 전체 평균의 1.5배보다 느린 집단을 표시하라.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4382589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4446597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표 1개 + 세그먼트 표 3개. 숫자마다 제외한 행 수를 함께 적는다.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497564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5039650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표본이 20건 미만인 집단은 순위에서 빼고 따로 표시한다.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" y="590702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마지막 줄이 핵심입니다. 표본이 작은 집단이 1위로 올라오는 사고를 미리 막습니다.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· STEP 4 · 생성 (PRD)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 — 이 한 장으로 대시보드가 만들어집니다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481328"/>
            <a:ext cx="10780776" cy="4315968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사내용 대시보드를 만드는 개발 파트너다. 외부 라이브러리 없이 HTML 한 파일로 만든다.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174966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238974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사용자는 민원 담당자다. 매달 CSV를 올려 현황을 확인하고, 회의에서 그 화면을 띄운다.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2768019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2832027"/>
            <a:ext cx="10085832" cy="15597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화면을 다섯 영역으로 만든다. 1) 적재 — CSV를 올리면 헤더를 읽어 자동 매핑하고 드롭다운으로 고칠 수 있게. 2) 정제 스트립 — 제거한 행수와 이유를 한 줄로. 3) KPI 다섯 칸. 4) 비교 — 기준(행정동·유형·채널)을 바꾸면 즉시 다시 그린다. 5) Audit — 숫자마다 계산식과 원천을 펼쳐 본다.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4382589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4446597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HTML 파일. 파일명은 complaint_dashboard.html.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4975642"/>
            <a:ext cx="10085832" cy="0"/>
          </a:xfrm>
          <a:prstGeom prst="line">
            <a:avLst/>
          </a:prstGeom>
          <a:noFill/>
          <a:ln w="12700">
            <a:solidFill>
              <a:srgbClr val="334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5039650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데이터를 서버로 보내지 않는다. 연락처는 화면에서도 마스킹한다. 인터넷 없이 열려야 한다.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" y="590702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여기서부터가 엑셀에 대응이 없는 구간입니다. 요구사항을 쓰는 만큼 결과가 나옵니다.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 · 참고자료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 네 개 뒤에 이 화면이 나옵니다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산출물 · 파일 하나 · 외부 라이브러리 0개 · 인터넷 불필요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21408"/>
            <a:ext cx="3154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87552" y="2377440"/>
            <a:ext cx="2496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화면에서 읽는 것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2834640"/>
            <a:ext cx="24963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2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층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4128" y="3438144"/>
            <a:ext cx="2404872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한 문장 결론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정제 근거·KPI</a:t>
            </a:r>
            <a:endParaRPr lang="en-US" sz="1700" dirty="0"/>
          </a:p>
          <a:p>
            <a:pPr marL="342900" indent="-342900">
              <a:lnSpc>
                <a:spcPct val="128000"/>
              </a:lnSpc>
              <a:buSzPct val="100000"/>
              <a:buChar char="•"/>
            </a:pPr>
            <a:r>
              <a:rPr lang="en-US" sz="17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추이와 비교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87552" y="4480560"/>
            <a:ext cx="249631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794행 → 정제본 748행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73295" y="2121408"/>
            <a:ext cx="585307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fig_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295" y="2121408"/>
            <a:ext cx="5853074" cy="33832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49808" y="5614416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정제 스트립(원본 794행 → 정제본 748행)이 화면에 남아 있는 것이 이 대시보드의 특징입니다.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· STEP 5 · 개선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 — 한 번에 하나씩만 붙입니다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481328"/>
            <a:ext cx="10780776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10085832" cy="9212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방금 만든 앱을 함께 개선하는 파트너다. 하나를 끝내고 화면이 깨지지 않았는지 확인한 뒤 다음으로 간다.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558034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622042"/>
            <a:ext cx="10085832" cy="4743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1차 앱이 동작한다. 회의에서 쓰려면 추이와 강조가 필요하다.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3087243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3151251"/>
            <a:ext cx="10085832" cy="13681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월별 추이 선그래프를 넣어라. 전체 평균을 회색 점선으로 함께 긋는다. ② 전체 평균의 1.5배를 넘는 행을 빨강으로 칠하고, 기준값은 화면에서 바꿀 수 있게 한다. ③ 지금 보이는 표를 CSV로 내보내는 버튼을 넣어라.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4510278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4574286"/>
            <a:ext cx="10085832" cy="4743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번에 하나씩. 매번 무엇이 바뀌었는지 한 줄로 알려준다.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5039487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5103495"/>
            <a:ext cx="10085832" cy="4743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라이브러리를 추가하지 않는다. 차트는 SVG로 직접 그린다.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" y="590702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셋을 한 번에 시키면 앱이 통째로 깨지고 복구에 10분을 씁니다. 한 번에 하나.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· STEP 6 · 검증과 인계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 — 화면의 숫자를 원본에서 다시 셉니다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481328"/>
            <a:ext cx="10780776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[역할]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너는 배포 전 숫자를 검증하는 감사 담당자이자, 다음 달 담당자에게 넘길 문서를 쓰는 사람이다.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174966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840" y="2238974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[맥락]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앱이 완성됐다. 화면의 숫자가 원본과 맞는지 아직 확인하지 않았다.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2768019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2832027"/>
            <a:ext cx="10085832" cy="15597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[지시]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화면의 KPI 다섯 개를 원본 CSV에서 다시 계산해 검산표를 만들어라. 다르면 원인을 적어라. ② 정제 규칙·판정 기준·제외 행 수를 README 한 장으로 정리하라. ③ 다음 달 실행 절차를 세 줄로 적어라.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4382589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05840" y="4446597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[형식]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검산표 + README.md.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4975642"/>
            <a:ext cx="10085832" cy="0"/>
          </a:xfrm>
          <a:prstGeom prst="line">
            <a:avLst/>
          </a:prstGeom>
          <a:noFill/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5840" y="5039650"/>
            <a:ext cx="10085832" cy="538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[제약]  </a:t>
            </a:r>
            <a:r>
              <a:rPr lang="en-US" sz="1600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숫자가 다르면 앱을 고치기 전에 원인부터 보고한다.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" y="590702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이 단계를 넣는 순간 결과물이 “내가 만든 것”에서 “남에게 넘길 수 있는 것”이 됩니다.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 · 참고자료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작업이 값어치를 하는 건 다음 달입니다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 여섯 개는 파일에 남습니다. 다시 쓰면 됩니다.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920240"/>
            <a:ext cx="310591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8368" y="2139696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달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8096" y="2487168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90분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68096" y="3261360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여섯 단계를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8096" y="4035552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처음부터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892296" y="3474720"/>
            <a:ext cx="4754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495800" y="1920240"/>
            <a:ext cx="310591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495800" y="2139696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05528" y="2487168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5분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05528" y="3261360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 CSV를 넣고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05528" y="4035552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프롬프트로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729728" y="3474720"/>
            <a:ext cx="4754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333232" y="1920240"/>
            <a:ext cx="3105912" cy="3108960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333232" y="2139696"/>
            <a:ext cx="3105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A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담당자가 바뀌면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42960" y="2487168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README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442960" y="3261360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규칙과 절차가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42960" y="4035552"/>
            <a:ext cx="2886456" cy="774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글로 남아 있다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9808" y="5358384"/>
            <a:ext cx="10780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엑셀은 결과만 넘겨줍니다. 이쪽은 만드는 방법을 넘겨줍니다.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9808" y="590702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그래서 첫 달에 90분을 쓰는 것이 아깝지 않습니다. 두 번째 달부터가 이익입니다.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10780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B6B6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→ CLAUDE · 참고자료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결국 다섯 문장이 대시보드 하나가 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780776" cy="0"/>
          </a:xfrm>
          <a:prstGeom prst="line">
            <a:avLst/>
          </a:prstGeom>
          <a:noFill/>
          <a:ln w="22225">
            <a:solidFill>
              <a:srgbClr val="1020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707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앞에서 본 엑셀 기능들이 어디에 들어갔는지 확인하고 마칩니다.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4008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24744" y="645566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2103120"/>
            <a:ext cx="1900123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04088" y="2103120"/>
            <a:ext cx="1808683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제거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찾기·바꾸기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595067" y="2811780"/>
            <a:ext cx="2468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878531" y="2103120"/>
            <a:ext cx="1900123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924251" y="2103120"/>
            <a:ext cx="1808683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피벗테이블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815230" y="2811780"/>
            <a:ext cx="2468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098694" y="2103120"/>
            <a:ext cx="1900123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144414" y="2103120"/>
            <a:ext cx="1808683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조건부 서식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035394" y="2811780"/>
            <a:ext cx="2468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318858" y="2103120"/>
            <a:ext cx="1900123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364578" y="2103120"/>
            <a:ext cx="1808683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차트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255557" y="2811780"/>
            <a:ext cx="246888" cy="0"/>
          </a:xfrm>
          <a:prstGeom prst="line">
            <a:avLst/>
          </a:prstGeom>
          <a:noFill/>
          <a:ln w="31750">
            <a:solidFill>
              <a:srgbClr val="0B6B6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539021" y="2103120"/>
            <a:ext cx="1900123" cy="1417320"/>
          </a:xfrm>
          <a:prstGeom prst="rect">
            <a:avLst/>
          </a:prstGeom>
          <a:solidFill>
            <a:srgbClr val="B7F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584741" y="2103120"/>
            <a:ext cx="1808683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58368" y="3840480"/>
            <a:ext cx="51160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87552" y="4096512"/>
            <a:ext cx="44577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바뀌지 않은 것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7552" y="4480560"/>
            <a:ext cx="44577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20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볼지 정하는 일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87552" y="5047488"/>
            <a:ext cx="44577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475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기준·임계값·제외 규칙은 여전히 사람이 정한다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23076" y="3840480"/>
            <a:ext cx="5116068" cy="1737360"/>
          </a:xfrm>
          <a:prstGeom prst="rect">
            <a:avLst/>
          </a:prstGeom>
          <a:solidFill>
            <a:srgbClr val="071A1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652260" y="4096512"/>
            <a:ext cx="44577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바뀐 것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52260" y="4480560"/>
            <a:ext cx="44577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만드는 과정이 남는다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6652260" y="5047488"/>
            <a:ext cx="44577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FB0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 · 정제 규칙 · 검산표 · README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9808" y="5815584"/>
            <a:ext cx="10780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A33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판단은 그대로 담당자의 몫입니다. 손이 하던 부분만 넘어갔습니다.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1A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1234440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기능을 배우는 게 아닙니다.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49808" y="2039112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원하는지 말하는 겁니다.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2843784"/>
            <a:ext cx="10780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7F34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엑셀은 그대로 두셔도 됩니다.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3913632"/>
            <a:ext cx="10469880" cy="0"/>
          </a:xfrm>
          <a:prstGeom prst="line">
            <a:avLst/>
          </a:prstGeom>
          <a:noFill/>
          <a:ln w="12700">
            <a:solidFill>
              <a:srgbClr val="0B6B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49808" y="4315968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피벗 · VLOOKUP · 차트</a:t>
            </a:r>
            <a:endParaRPr lang="en-US" sz="24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대시보드 하나로.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0" y="416052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0" y="493776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대응표 13개 · 차트 6종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53035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프롬프트 6개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5833872"/>
            <a:ext cx="105978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A9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공공기관 생성형 AI 업무혁신 · 참고자료 · 예시는 실습 데이터(01_complaints_raw.csv) 기준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2755</Words>
  <Application>Microsoft Office PowerPoint</Application>
  <PresentationFormat>와이드스크린</PresentationFormat>
  <Paragraphs>514</Paragraphs>
  <Slides>32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5" baseType="lpstr"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哥 大</cp:lastModifiedBy>
  <cp:revision>1</cp:revision>
  <dcterms:created xsi:type="dcterms:W3CDTF">2026-09-04T23:12:38Z</dcterms:created>
  <dcterms:modified xsi:type="dcterms:W3CDTF">2026-09-05T03:31:53Z</dcterms:modified>
</cp:coreProperties>
</file>