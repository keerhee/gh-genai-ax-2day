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클로드로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기능이 아니라 문장으로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피벗·VLOOKUP·차트를 마우스 대신 말로 시키는 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2 · 데이터 참고자료 · 예시 794행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문장으로 말한다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+ 절차 + 기록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도는 루틴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자료의 흐름 — 도구를 고르고, 기능을 문장으로 옮기고, 함정을 피합니다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35608" y="226885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87452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9088" y="187452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'다음 달'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226885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· 클로드 대화창 · 클로드 코드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70891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5463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35608" y="314896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75463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→ 문장 대응표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75463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 13개를 말로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14896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중복 제거 · 조건부 서식 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5890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3474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35608" y="402907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63474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63474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보여줄지부터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402907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6종 · 프롬프트 5요소 · 받는 방법 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446913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51485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35608" y="4909185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51485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함정과 분업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451485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자주 막히는 곳 · 엑셀이 나은 경우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490918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깨짐 · 인코딩 · 검산 · 오늘 실습과의 연결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44253" y="553212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67842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· 엑셀은 쓰지만 코딩은 안 하는 실무자 — 하던 일을 다른 방식으로 할 뿐, 새로 배우는 것은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기본 지식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문장으로 되는가 — 클로드는 표를 코드로 다루고, 코드는 기록으로 남습니다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엑셀은 사람이 셀을 조작하는 도구, 클로드는 문장을 받아 코드를 쓰고 실행해 결과를 돌려주는 도구입니다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176272"/>
            <a:ext cx="44805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8584" y="2176272"/>
            <a:ext cx="4480560" cy="306324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4323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· 마우스 조작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8895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손동작은 남지 않는다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493008"/>
            <a:ext cx="373075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4칸 끌어 놓기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 드래그 채우기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만든 과정은 기록 없음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4215384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달엔 처음부터 다시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7768" y="24323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· 문장 지시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7768" y="28895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 → 코드 → 결과 + 기록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24344" y="3493008"/>
            <a:ext cx="373075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한 번 말한다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794행 전체에 즉시 적용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코드와 로그가 남는다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4215384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바꾸면 다시 실행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38928" y="3232404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일, 다른 방식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2976" y="3707892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'어느 메뉴를 누르나'가 아니라 '무엇을 원하나'를 정확히 말하는 것이 전부입니다.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01 · 도구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셋입니다 — 고르는 기준은 기능이 아니라 '다음 달에도 하는가'입니다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엑셀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10512" y="2935224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입력·붙여넣기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378708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3378708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파일 하나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822192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손동작 반복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265676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265676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과정이 기록 안 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6928" y="1783080"/>
            <a:ext cx="3343656" cy="324612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611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클로드 대화창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611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2960" y="2935224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9072" y="2935224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 1~2개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32960" y="3378708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9072" y="3378708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답변·표·차트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32960" y="3822192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29072" y="3822192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올리고 설명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32960" y="4265676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29072" y="4265676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연락처는 지우고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95488" y="178308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29" name="Text 27"/>
          <p:cNvSpPr/>
          <p:nvPr/>
        </p:nvSpPr>
        <p:spPr>
          <a:xfrm>
            <a:off x="842467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클로드 코드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2467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반복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351520" y="2935224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2935224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PC의 폴더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378708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3378708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결과+절차+기록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51520" y="3822192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47632" y="3822192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바꿔 실행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51520" y="4265676"/>
            <a:ext cx="84124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47632" y="4265676"/>
            <a:ext cx="1935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밖에 안 나감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9808" y="534924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기준선 · 민원 한 달치 794행을 한 번 분석하는 일은 대화창으로 충분합니다.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749808" y="575157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형식으로 되풀이하는 순간부터가 클로드 코드입니다 — 아래 표의 말은 둘 다에서 통합니다.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02 · 대응표 1/3 · 민원 데이터 기준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 — 피벗·VLOOKUP·COUNTIF는 '묶어서 세라'는 한 문장입니다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22576" y="1755648"/>
            <a:ext cx="101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5998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74936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결과로 남는 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121408"/>
            <a:ext cx="10780776" cy="703072"/>
          </a:xfrm>
          <a:prstGeom prst="rect">
            <a:avLst/>
          </a:prstGeom>
          <a:solidFill>
            <a:srgbClr val="E4EFEC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21408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22576" y="2121408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묶어 집계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016" y="2121408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 건수·평균 처리일수·평균 만족도를 표로, 건수 많은 순 정렬”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74936" y="2121408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+ CSV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2824480"/>
            <a:ext cx="10780776" cy="703072"/>
          </a:xfrm>
          <a:prstGeom prst="rect">
            <a:avLst/>
          </a:prstGeom>
          <a:solidFill>
            <a:srgbClr val="E4EFEC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24480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 피벗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22576" y="2824480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 집계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7016" y="2824480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“행에 행정동, 열에 민원유형을 놓고 평균 처리일수 교차표로. 빈 칸은 비워둬”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74936" y="2824480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3527552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527552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VLOOKUP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22576" y="3527552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 붙이기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7016" y="3527552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“부서코드에 부서목록.csv의 부서명을 붙여줘. 못 찾은 코드는 따로 목록으로”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74936" y="3527552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병합본+미매칭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4230624"/>
            <a:ext cx="10780776" cy="475488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230624"/>
            <a:ext cx="1335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COUNTIF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22576" y="4230624"/>
            <a:ext cx="1014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집계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57016" y="4230624"/>
            <a:ext cx="5998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“접수채널이 국민신문고인 건수와 그 평균 만족도를 알려줘”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74936" y="423062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+ 계산식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" y="4706112"/>
            <a:ext cx="107807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4706112"/>
            <a:ext cx="1335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 · 정렬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322576" y="4706112"/>
            <a:ext cx="1014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골라 보기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57016" y="4706112"/>
            <a:ext cx="5998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“평균의 1.5배 넘는 건만 뽑아 CSV로 저장해줘”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74936" y="47061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피벗은 문장으로 바꾸기 가장 쉬운 기능입니다 — 묶을 기준 · 셀 값 · 정렬 순서만 말하면 됩니다.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02 · 대응표 2/3 · 민원 데이터 기준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— 중복·표기·오류는 '먼저 보여주고, 확인하면 고쳐라'로 시킵니다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22576" y="1755648"/>
            <a:ext cx="101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5998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74936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결과로 남는 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121408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21408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22576" y="2121408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지우기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016" y="2121408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“완전히 같은 행과 민원ID만 다른 행을 각각 세어 보고하고, 전후 행수를 알려줘”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74936" y="2121408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근거표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2824480"/>
            <a:ext cx="10780776" cy="703072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24480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 · 바꾸기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22576" y="2824480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표기 통일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7016" y="2824480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“'국민 신문고'처럼 같은 뜻 다른 표기를 목록으로 먼저 보여줘. 확인하면 통일해줘”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74936" y="2824480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3527552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527552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나누기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22576" y="3527552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칸 쪼개기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7016" y="3527552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“주소 컬럼에서 행정동만 떼어 새 컬럼으로 만들어줘”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74936" y="3527552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4230624"/>
            <a:ext cx="10780776" cy="703072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230624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유효성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22576" y="4230624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입력값 점검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57016" y="4230624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“처리일수가 음수이거나 365를 넘는 행, 만족도가 1~5 밖인 행을 찾아줘”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74936" y="4230624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목록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" y="4933696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4933696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 중첩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322576" y="4933696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분류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57016" y="4933696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“'종량제·꽁초'가 있으면 일반생활폐기물로 분류해줘. 애매한 건 정하지 말고 따로 빼줘”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74936" y="4933696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분류본+보류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'먼저 보여줘 → 승인 → 저장' 세 박자가 원본을 지킵니다. 실습 1(품질검사)이 바로 이 다섯 문장입니다.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02 · 대응표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 — 조건부 서식은 HTML로, 드래그는 사라지고, 차트는 '무엇을 보여줄지'로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22576" y="1755648"/>
            <a:ext cx="101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5998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74936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결과로 남는 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121408"/>
            <a:ext cx="1078077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21408"/>
            <a:ext cx="1335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22576" y="2121408"/>
            <a:ext cx="1014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눈에 띄게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016" y="2121408"/>
            <a:ext cx="5998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“1.5배 느린 행정동을 빨강으로 칠한 표를 HTML 한 파일로”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74936" y="2121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2596896"/>
            <a:ext cx="10780776" cy="475488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596896"/>
            <a:ext cx="1335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 드래그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22576" y="2596896"/>
            <a:ext cx="1014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적용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7016" y="2596896"/>
            <a:ext cx="5998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필요 없음. 규칙을 한 번 말하면 794행 전체에 적용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74936" y="25968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3072384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072384"/>
            <a:ext cx="133502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22576" y="3072384"/>
            <a:ext cx="1014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그림으로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7016" y="3072384"/>
            <a:ext cx="59984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“다음 장 참조 — 보여줄 것 → 차트 종류 → 폰트·제목·저장”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74936" y="3072384"/>
            <a:ext cx="155448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PNG·웹앱·xlsx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4004056"/>
            <a:ext cx="10780776" cy="1299464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10464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엑셀과 결정적으로 다른 점 — 엑셀은 물어볼 수 없습니다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" y="4433824"/>
            <a:ext cx="10122408" cy="85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컬럼이 뭘 뜻하는지 모르겠는데 값을 보고 추측해줘”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숫자가 어떻게 나온 건지 다시 설명해줘”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표를 만드는 것보다 '물어보기'와 '되묻기'가 실무에서 더 자주 쓰입니다.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03 · 그래프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— 차트 종류를 고르는 게 아니라, 무엇을 보여줄지를 말합니다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보여줄 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05456" y="17556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1456" y="1755648"/>
            <a:ext cx="6537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121408"/>
            <a:ext cx="1078077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214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흐름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05456" y="21214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91456" y="21214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“월별 총민원 추이를 선그래프로, 전체 평균은 회색 점선으로”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578608"/>
            <a:ext cx="10780776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5786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비교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05456" y="25786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가로막대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91456" y="25786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 평균 처리일수를 값 순 가로막대로, 평균선 표시”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035808"/>
            <a:ext cx="1078077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0358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05456" y="30358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누적막대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91456" y="30358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 접수채널 구성비를 100% 누적 가로막대로”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3493008"/>
            <a:ext cx="10780776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4930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퍼짐 정도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05456" y="34930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히스토그램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91456" y="34930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“처리일수 분포를 히스토그램으로, 극단값도 같이 봐줘”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3950208"/>
            <a:ext cx="1078077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9502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값의 관계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05456" y="39502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산점도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91456" y="39502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“처리일수와 만족도를 산점도로, 점마다 행정동 이름”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4407408"/>
            <a:ext cx="10780776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40740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몰렸나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05456" y="440740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지도·히트맵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91456" y="4407408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 민원 건수를 지도 위에 원 크기로”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" y="534924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범위 → 차트 종류 순서지만, 클로드는 '보여줄 것'을 말하면 차트 종류가 따라옵니다.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9808" y="575157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파이 차트 — 항목이 5개를 넘으면 못 읽습니다. 보고서의 파이는 대부분 가로막대로 바꾸는 게 낫습니다.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03 · 그래프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프롬프트에 반드시 넣을 다섯 가지 — 하나만 빠져도 다시 그리게 됩니다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6596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3500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파일, 어느 컬럼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286207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monthly.csv · 월·총민원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6928" y="1783080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6112" y="196596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6112" y="23500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차트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06112" y="286207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5488" y="1783080"/>
            <a:ext cx="3343656" cy="15727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24672" y="196596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핵심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4672" y="23500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 지정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24672" y="286207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빼면 한글이 □□□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538728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216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41056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축 이름 · 단위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87552" y="46177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y축 '건수'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6928" y="3538728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6112" y="37216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6112" y="41056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형식과 크기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706112" y="46177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1200×600 · 150dpi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538728"/>
            <a:ext cx="3343656" cy="1572768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27" name="Text 25"/>
          <p:cNvSpPr/>
          <p:nvPr/>
        </p:nvSpPr>
        <p:spPr>
          <a:xfrm>
            <a:off x="8424672" y="37216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받는 방법 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41056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· 웹앱 · xlsx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424672" y="46177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기안문 · 웹앱 · 결재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줄의 순서는 바꿔도 됩니다. 다만 다섯 가지가 다 있어야 한 번에 나옵니다.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03 · 그래프 · Copy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 복사해 쓰는 완성 프롬프트 — 파일명과 컬럼만 바꾸면 됩니다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078077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20240"/>
            <a:ext cx="10122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03_complaints_monthly.csv 12행   →   출력  monthly_trend.png 1200×600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304288"/>
            <a:ext cx="1012240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03_complaints_monthly.csv로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건수 추이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그려줘. 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깨지지 않게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폰트를 맑은 고딕(없으면 NanumGothic)으로 지정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하고, 제목은 '2026년 월별 민원 접수', y축 이름은 '건수'로 해줘. 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전체 평균을 회색 점선으로 함께 긋고, 가장 높은 달에만 값을 표시해줘.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1200×600, 150dpi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저장하고 파일명은 monthly_trend.png로.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4800600"/>
            <a:ext cx="3422904" cy="548640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800600"/>
            <a:ext cx="3422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PNG — 보고서·기안문에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7304" y="4800600"/>
            <a:ext cx="3422904" cy="548640"/>
          </a:xfrm>
          <a:prstGeom prst="rect">
            <a:avLst/>
          </a:prstGeom>
          <a:solidFill>
            <a:srgbClr val="0B6B68"/>
          </a:solidFill>
          <a:ln/>
        </p:spPr>
      </p:sp>
      <p:sp>
        <p:nvSpPr>
          <p:cNvPr id="12" name="Text 10"/>
          <p:cNvSpPr/>
          <p:nvPr/>
        </p:nvSpPr>
        <p:spPr>
          <a:xfrm>
            <a:off x="4337304" y="4800600"/>
            <a:ext cx="3422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웹앱 차트 — 조건 바꿔 보기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16240" y="4800600"/>
            <a:ext cx="3422904" cy="54864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16240" y="4800600"/>
            <a:ext cx="3422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xlsx 안의 차트 — 결재 원본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 엑셀 원본을 요구하면 "결과를 차트가 들어간 엑셀 파일로 만들어줘" 한 마디면 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04 · 함정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자주 막힙니다 — 여섯 가지 모두 한 문장으로 풀립니다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45536" y="1755648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63056" y="175564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121408"/>
            <a:ext cx="1078077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21408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□□□로 나온다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45536" y="212140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폰트 미지정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63056" y="212140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“한글 폰트를 찾아서 적용해줘”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578608"/>
            <a:ext cx="10780776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578608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글자가 깨졌다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45536" y="257860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인코딩 — CP949 파일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3056" y="257860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“UTF-8로 다시 저장부터 해줘”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035808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035808"/>
            <a:ext cx="2157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합계가 엑셀과 다르다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45536" y="3035808"/>
            <a:ext cx="27980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값·오류 행이 계산에서 빠짐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3035808"/>
            <a:ext cx="516636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“몇 행을 제외했는지 알려줘”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3738880"/>
            <a:ext cx="10780776" cy="703072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738880"/>
            <a:ext cx="2157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계산이 안 된다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45536" y="3738880"/>
            <a:ext cx="27980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콤마·공백 탓에 문자로 인식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63056" y="3738880"/>
            <a:ext cx="516636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“숫자로 바꾸되 실패한 값은 목록으로 보여줘”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4441952"/>
            <a:ext cx="10780776" cy="70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441952"/>
            <a:ext cx="215798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너무 크다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45536" y="4441952"/>
            <a:ext cx="2798064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공개데이터는 수십만 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3056" y="4441952"/>
            <a:ext cx="5166360" cy="703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“관할 지역과 기간으로 먼저 잘라줘”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5145024"/>
            <a:ext cx="10780776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5145024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결과를 못 믿겠다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145536" y="5145024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그럴 때가 정상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63056" y="514502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숫자를 원본에서 다시 세어 검산표를 만들어줘”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"검산표를 만들어줘"가 가장 강력한 한마디입니다 — 못 믿는 것이 정상이고, 되묻는 것이 실무입니다.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04 · 균형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엑셀이 여전히 나은 세 경우 — 대체가 아니라 분업입니다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3436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7111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5516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20행짜리 즉석 계산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552" y="296722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설명하는 시간이 더 길다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6928" y="1828800"/>
            <a:ext cx="33436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6112" y="207111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6112" y="245516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직접 고치는 양식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706112" y="296722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부서별 취합 서식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5488" y="1828800"/>
            <a:ext cx="3343656" cy="169164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15" name="Text 13"/>
          <p:cNvSpPr/>
          <p:nvPr/>
        </p:nvSpPr>
        <p:spPr>
          <a:xfrm>
            <a:off x="8424672" y="207111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4672" y="245516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 xlsx 원본 요구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4672" y="2967228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 → xlsx 내보내기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520293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854196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CLAUDE가 맡는 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4238244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정제·집계·차트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7552" y="4750308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규칙 · 기록 · 여러 파일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6208" y="3703320"/>
            <a:ext cx="5202936" cy="150876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3854196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EXCEL이 맡는 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65392" y="4238244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손이 들어가는 마지막 조정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65392" y="4750308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 · 취합 서식 · 결재 원본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그대로 두셔도 됩니다 — 반복은 클로드가, 마지막 손질은 엑셀이 맡습니다.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참고자료 · 연결 · 기초 2 실습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실습이 곧 이 표입니다 — 새로 배우는 게 아니라 하던 일을 다른 방식으로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0780776" cy="36576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5564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45536" y="1755648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6016" y="17556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121408"/>
            <a:ext cx="1078077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2140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품질검사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45536" y="2121408"/>
            <a:ext cx="3621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중복·결측·표기 흔들림 잡기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6016" y="212140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+ 찾기·바꾸기 + 데이터 유효성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670048"/>
            <a:ext cx="10780776" cy="54864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67004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KPI · 세그먼트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45536" y="2670048"/>
            <a:ext cx="3621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행정동·유형별 비교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6016" y="26700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218688"/>
            <a:ext cx="1078077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21868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원인 후보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45536" y="3218688"/>
            <a:ext cx="3621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느린 곳을 찾아 강조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6016" y="32186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+ 조건부 서식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3767328"/>
            <a:ext cx="10780776" cy="548640"/>
          </a:xfrm>
          <a:prstGeom prst="rect">
            <a:avLst/>
          </a:prstGeom>
          <a:solidFill>
            <a:srgbClr val="F7F5F0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76732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예측 · 시각화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45536" y="3767328"/>
            <a:ext cx="3621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그리기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6016" y="37673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10780776" cy="548640"/>
          </a:xfrm>
          <a:prstGeom prst="rect">
            <a:avLst/>
          </a:prstGeom>
          <a:solidFill>
            <a:srgbClr val="E4EFEC"/>
          </a:solidFill>
          <a:ln w="9525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315968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1페이지 보고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45536" y="4315968"/>
            <a:ext cx="3621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숫자를 문장으로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6016" y="431596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(엑셀에는 없는 단계)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'숫자를 문장으로'와 '검산표'는 엑셀에 없는 단계 — 이 둘이 '다음 달에도 쓰는 것'을 만듭니다.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기능을 배우는 게 아닙니다.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원하는지 말하는 겁니다.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그대로 두셔도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 →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 13개 · 차트 6종 · 함정 6가지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예시는 실습 데이터(01_complaints_raw.csv · 03_complaints_monthly.csv, 교육용 합성 자료) 기준입니다. 기초 2 · 데이터 3시간의 참고자료.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2026-09-09T10:22:14Z</dcterms:created>
  <dcterms:modified xsi:type="dcterms:W3CDTF">2026-09-09T10:22:14Z</dcterms:modified>
</cp:coreProperties>
</file>