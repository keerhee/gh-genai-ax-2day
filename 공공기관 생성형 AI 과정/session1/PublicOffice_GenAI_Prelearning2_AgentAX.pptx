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 II</a:t>
            </a:r>
            <a:endParaRPr lang="en-US" sz="4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실행하는 AI와 AX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1·2를 마치고 중급에 들어가기 전에 알아야 할 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Pre-learning II · 공공기관 생성형 AI · 40분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답하는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실행하는 Agent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 · 바이브 코딩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조직의 AX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 II의 흐름 — 개인의 도구에서 조직의 운영 방식으로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35608" y="226885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87452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 · 실행하는 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9088" y="187452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답하는 AI에서 일을 끝내는 AI로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226885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구조 · 세 층위 · McKinsey 2026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70891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5463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35608" y="314896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75463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 · 표준 연결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088" y="275463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우리 시스템과 만나는 방법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314896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동작 7단계 · 활용 사례 · 2026.9 현황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35890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3474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435608" y="402907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363474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바이브 코딩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19088" y="363474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 만드는 업무 도구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402907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15분 데모 3개 · 프로토타입과 운영의 거리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446913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51485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435608" y="4909185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451485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 · 조직 전환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19088" y="451485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활용은 개인, AX는 조직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9088" y="490918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DX→AX · 세 단계 계단 · 실패 이유 · 성공 조건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844253" y="553212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67842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1·2에서 만든 프롬프트와 웹앱이 중급에서 '부서의 시스템'이 되는 길을 미리 봅니다.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 — 답하는 AI에서 실행하는 AI로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Model·Memory·Tool 구조 · 개인 비서 → 팀 멤버 → 기업 자동화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Agent는 답하는 AI가 아니라, 실행하는 AI입니다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Agent = 목표를 받으면 계획하고, 도구를 골라 쓰고, 결과를 검증해 일을 끝내는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98614" y="2139696"/>
            <a:ext cx="1030028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614" y="2139696"/>
            <a:ext cx="10300284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"이거 어떻게 해?" → GPT · "이거 해봐." → Agent. 기초 2의 웹앱 프롬프트가 곧 '이거 해봐'입니다.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 구조 — Model·Memory·Tool을 바탕으로 계획하고 실행합니다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6148" y="1792224"/>
            <a:ext cx="8525216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148" y="1792224"/>
            <a:ext cx="8525216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 → Act → Observe → Refine, 작업이 완료될 때까지 반복합니다.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Agent는 답만 하는 AI가 아니라, 계획하고 도구를 써서 실제로 일을 끝내는 AI입니다.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 팀은 역할을 나눠 함께 일합니다 — 리서치·분석·기획·문서·실행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54222" y="1792224"/>
            <a:ext cx="9789068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222" y="1792224"/>
            <a:ext cx="9789068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사람의 역할: 목표 설정 · 기준 정의 · 검증 · 최종 의사결정.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Agent는 '한 명의 만능 AI'가 아니라 '역할이 나뉜 디지털 팀'입니다.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Agent는 세 층위로 조직에 들어옵니다 — 개인 비서, 팀 멤버, 기업 자동화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1의 'AI 업무비서'가 1층, 기초 2의 '부서 대시보드'가 2층으로 가는 문턱, 중급이 2·3층입니다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70730" y="2139696"/>
            <a:ext cx="8556052" cy="3300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730" y="2139696"/>
            <a:ext cx="8556052" cy="33009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53212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조사에서 매출 10억 달러 이상 대기업의 40%가 Agent를 스케일하고 있습니다 (27% → 40%).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9808" y="60899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출처: McKinsey, The State of AI 2025 (2025.11) · Global Survey 2026 (2026.8.25, n=1,719)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01 · McKinsey State of AI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 데이터 — 개인은 빨라졌지만, 조직의 이익은 아직 따라오지 못했습니다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250317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43684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생산성 향상 체감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354580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17570" y="1828800"/>
            <a:ext cx="250317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7570" y="2043684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전사 EBIT 효과 보고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17570" y="2354580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37% (정체)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76772" y="1828800"/>
            <a:ext cx="250317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6772" y="2043684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대기업 Agent 스케일링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6772" y="2354580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27% → 40%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935974" y="1828800"/>
            <a:ext cx="250317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35974" y="2043684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고성과 기업 (AI→영업이익)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5974" y="2354580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≈6%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58368" y="3218688"/>
            <a:ext cx="33436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62102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40050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개인은 빨라졌다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87552" y="4517136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32%는 SW를 직접 개발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76928" y="3218688"/>
            <a:ext cx="33436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6112" y="362102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EBIT GAP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6112" y="40050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조직 이익은 정체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706112" y="4517136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고성과 기업은 약 6%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95488" y="3218688"/>
            <a:ext cx="3343656" cy="201168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27" name="Text 25"/>
          <p:cNvSpPr/>
          <p:nvPr/>
        </p:nvSpPr>
        <p:spPr>
          <a:xfrm>
            <a:off x="8424672" y="362102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TURNING POINT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4672" y="40050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분기점은 워크플로 재설계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424672" y="4517136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비용이 제약(20%)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빨라진 개인을 조직 성과로 바꾸는 것은 도구가 아니라 업무 흐름 재설계입니다 — Part 04의 주제.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749808" y="598932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출처: McKinsey, The State of AI: Global Survey 2026 (2026.8.25, 조사 기간 2026.5~6, 97개국 1,719명)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 — AI가 우리 시스템과 만나는 표준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동작 7단계 · 제조·금융·일반 사무 사례 · 2026.9 현황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MCP(Model Context Protocol) — AI Agent 시대를 여는 표준 연결 프로토콜입니다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44133" y="1792224"/>
            <a:ext cx="6809246" cy="3831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4133" y="1792224"/>
            <a:ext cx="6809246" cy="3831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Connect any system, empower every agent — ERP·DB·GitHub·Slack·SAP·MES를 하나의 표준으로.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MCP란 무엇인가 — AI를 외부 시스템과 연결하는 표준 인터페이스입니다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MCP = AI가 ERP·DB·메일·문서 같은 외부 도구를 표준 방식으로 쓰게 하는 'AI용 USB-C'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3773" y="2139696"/>
            <a:ext cx="7529965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3773" y="2139696"/>
            <a:ext cx="7529965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Before: 시스템마다 개별 연결. After: MCP 하나로 모든 시스템 연결 — Build Once, Connect Everywhere.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MCP의 개념 — LLM은 생각하고, MCP는 외부 세계와 연결합니다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72867" y="1792224"/>
            <a:ext cx="8151779" cy="3831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867" y="1792224"/>
            <a:ext cx="8151779" cy="3831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Client · Server · Tool · Resource — 도구마다 다른 연결 방식을 표준화한 'AI용 USB-C'.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MCP는 어떻게 동작하는가 — 질문에서 보고서 생성까지 7단계입니다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49652" y="1792224"/>
            <a:ext cx="9398208" cy="3831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652" y="1792224"/>
            <a:ext cx="9398208" cy="3831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시스템에 직접 접근하지 않고, MCP를 통해 필요한 Tool만 호출합니다 — 보안·권한이 먼저입니다.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 활용 사례 — 제조·금융·일반 사무에서 Agent가 시스템을 연결합니다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공공기관이라면 · 민원 시스템 · 행정정보 DB · 전자결재 · 내부망 AI — 정보보안 부서의 허용 범위 안에서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23137" y="2139696"/>
            <a:ext cx="7651239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137" y="2139696"/>
            <a:ext cx="7651239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Think with LLM, Act with MCP.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02 · MCP Adoption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MCP는 1년 만에 사실상의 업계 표준이 되었습니다 — 2026년 9월 현황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250317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43684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MCP 서버 (2025.12)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354580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10,000+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17570" y="1828800"/>
            <a:ext cx="250317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7570" y="2043684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월간 SDK 다운로드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17570" y="2354580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97M+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76772" y="1828800"/>
            <a:ext cx="250317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6772" y="2043684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Linux Foundation AAIF 기부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6772" y="2354580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2025.12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935974" y="1828800"/>
            <a:ext cx="250317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35974" y="2043684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프로덕션 사용 SW 조직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35974" y="2354580"/>
            <a:ext cx="25031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58368" y="3291840"/>
            <a:ext cx="190012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291840"/>
            <a:ext cx="1808683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Anthropic 공개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2024.11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595067" y="386334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78531" y="3291840"/>
            <a:ext cx="190012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4251" y="3291840"/>
            <a:ext cx="1808683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GitHub·OpenAI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 상반기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15230" y="386334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98694" y="3291840"/>
            <a:ext cx="190012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4414" y="3291840"/>
            <a:ext cx="1808683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Google·MS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 하반기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35394" y="386334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8858" y="3291840"/>
            <a:ext cx="190012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4578" y="3291840"/>
            <a:ext cx="1808683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AAIF 기부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2025.12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255557" y="386334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39021" y="3291840"/>
            <a:ext cx="1900123" cy="1143000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31" name="Text 29"/>
          <p:cNvSpPr/>
          <p:nvPr/>
        </p:nvSpPr>
        <p:spPr>
          <a:xfrm>
            <a:off x="9584741" y="3291840"/>
            <a:ext cx="1808683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표준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670048" y="4709160"/>
            <a:ext cx="2000250" cy="512064"/>
          </a:xfrm>
          <a:prstGeom prst="rect">
            <a:avLst/>
          </a:prstGeom>
          <a:solidFill>
            <a:srgbClr val="0B6B68"/>
          </a:solidFill>
          <a:ln/>
        </p:spPr>
      </p:sp>
      <p:sp>
        <p:nvSpPr>
          <p:cNvPr id="33" name="Text 31"/>
          <p:cNvSpPr/>
          <p:nvPr/>
        </p:nvSpPr>
        <p:spPr>
          <a:xfrm>
            <a:off x="2670048" y="4709160"/>
            <a:ext cx="200025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26330" y="4709160"/>
            <a:ext cx="2000250" cy="512064"/>
          </a:xfrm>
          <a:prstGeom prst="rect">
            <a:avLst/>
          </a:prstGeom>
          <a:solidFill>
            <a:srgbClr val="0B6B68"/>
          </a:solidFill>
          <a:ln/>
        </p:spPr>
      </p:sp>
      <p:sp>
        <p:nvSpPr>
          <p:cNvPr id="35" name="Text 33"/>
          <p:cNvSpPr/>
          <p:nvPr/>
        </p:nvSpPr>
        <p:spPr>
          <a:xfrm>
            <a:off x="4926330" y="4709160"/>
            <a:ext cx="200025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82612" y="4709160"/>
            <a:ext cx="2000250" cy="512064"/>
          </a:xfrm>
          <a:prstGeom prst="rect">
            <a:avLst/>
          </a:prstGeom>
          <a:solidFill>
            <a:srgbClr val="0B6B68"/>
          </a:solidFill>
          <a:ln/>
        </p:spPr>
      </p:sp>
      <p:sp>
        <p:nvSpPr>
          <p:cNvPr id="37" name="Text 35"/>
          <p:cNvSpPr/>
          <p:nvPr/>
        </p:nvSpPr>
        <p:spPr>
          <a:xfrm>
            <a:off x="7182612" y="4709160"/>
            <a:ext cx="200025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438894" y="4709160"/>
            <a:ext cx="2000250" cy="512064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438894" y="4709160"/>
            <a:ext cx="200025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8368" y="470916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 플랫폼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문제는 이제 '연결할 수 있나'가 아니라 '무엇을 연결해 어떤 업무를 바꿀 것인가'입니다.</a:t>
            </a:r>
            <a:endParaRPr lang="en-US" sz="1850" dirty="0"/>
          </a:p>
        </p:txBody>
      </p:sp>
      <p:sp>
        <p:nvSpPr>
          <p:cNvPr id="42" name="Text 40"/>
          <p:cNvSpPr/>
          <p:nvPr/>
        </p:nvSpPr>
        <p:spPr>
          <a:xfrm>
            <a:off x="749808" y="598932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출처: Anthropic(2025.12) · MCP 공식 레지스트리 · Linux Foundation AAIF · Stacklok, State of MCP 2026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바이브 코딩 — 말로 만드는 업무 도구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기초 2에서 이미 해 본 것 · 프로토타입과 운영의 거리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바이브 코딩 — 자연어로 설명하면, AI가 코드를 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아이디어를 말로 설명해 프로토타입과 작은 도구를 빠르게 만드는 방식 — 기초 2의 미니 웹앱이 이것입니다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4749" y="2139696"/>
            <a:ext cx="752801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749" y="2139696"/>
            <a:ext cx="7528014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개발자가 아니어도 아이디어를 말로 설명해 프로토타입과 작은 도구를 빠르게 만듭니다.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바이브 코딩은 코딩의 대체가 아니라, 아이디어를 빠르게 실험하는 방식입니다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90227" y="1792224"/>
            <a:ext cx="8917059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227" y="1792224"/>
            <a:ext cx="8917059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직접 코딩(벽돌 쌓기) → 기획자가 말로 만드는 프로토타이핑 → 작은 도구를 누구나 만듭니다.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'직접 타이핑'보다 '정확히 설명'하는 능력입니다 — 기초 1의 5요소가 그대로 쓰입니다.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 설명하기만 하면 — 15분에 3개의 도구가 만들어집니다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6203" y="1792224"/>
            <a:ext cx="10545106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03" y="1792224"/>
            <a:ext cx="10545106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출장비 계산기(5분) · CEO 경영 게임(8분) · 고객 미팅 기록 앱(10분).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질문 · 코드를 외우는 능력보다, 문제를 설명하는 능력이 중요해지고 있는가?</a:t>
            </a:r>
            <a:endParaRPr lang="en-US" sz="2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03 · Production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바이브 코딩과 프로덕션 사이에는 빙산이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4754880" cy="3575304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029968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vs PRODUCTION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4096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수면 아래의 90%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3090672"/>
            <a:ext cx="40050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보안·암호화·권한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DB·확장·가용성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배포·모니터링(CI/CD)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05079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원칙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4325112"/>
            <a:ext cx="40965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프로토타입 ≠ 운영 시스템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85061" y="1773936"/>
            <a:ext cx="2829743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13" name="Image 0" descr="fig/p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061" y="1773936"/>
            <a:ext cx="2829743" cy="35753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" y="545896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2의 대시보드는 개인 루틴, 부서 시스템으로 올리는 것이 중급 — 그 사이에 이 빙산이 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 — 활용은 개인, AX는 조직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DX → AX · 전동드릴과 공장 라인 · 세 단계 계단 · 실패 이유와 성공 조건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AX(AI Transformation) — AI가 만드는 업무 혁신과 조직 전환입니다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AX = 사람과 AI가 함께 일하도록 업무 흐름·기준·역할을 다시 설계하는 단계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57910" y="2139696"/>
            <a:ext cx="6981691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7910" y="2139696"/>
            <a:ext cx="6981691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도입을 넘어 일하는 방식과 의사결정 체계를 바꾸는 변화입니다.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AX는 도구 도입이 아니라, 업무·의사결정 방식을 바꾸는 것입니다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97567"/>
            <a:ext cx="10780776" cy="350060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97567"/>
            <a:ext cx="10780776" cy="35006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DX는 사람이 시스템을 사용하고, AX는 사람이 AI에 일을 시키고 검증합니다.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질문 · 우리 기관은 지금 AI를 '쓰는 중'인가, AX를 '하는 중'인가?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활용은 개인의 생산성, AX는 조직의 운영 방식입니다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03656" y="1792224"/>
            <a:ext cx="1069020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656" y="1792224"/>
            <a:ext cx="10690200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전동드릴을 산다(AI 활용) vs 공장 라인을 재설계한다(AX). 보고서는 빨라졌지만 기관 KPI는 그대로.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질문 · 우리 부서의 '개인기'를 부서 프로세스로 바꿀 수 있는 업무는 무엇입니까?</a:t>
            </a:r>
            <a:endParaRPr lang="en-US" sz="1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AX는 한 번에 도달하지 않습니다 — 세 단계 계단으로 오릅니다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 = 1단계 툴 활용 · 기초 2 = 2단계 오케스트레이션의 입구 · 중급 = 2·3단계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98738" y="2139696"/>
            <a:ext cx="8900035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738" y="2139696"/>
            <a:ext cx="8900035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AX는 AI를 '쓰는 것'이 아니라, AI가 일하는 방식을 조직 안에 설계하는 것입니다.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04 · Why AX Fails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 — 2027년 말까지 Agentic AI 프로젝트의 40% 이상이 취소됩니다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35181" y="1792224"/>
            <a:ext cx="9427150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181" y="1792224"/>
            <a:ext cx="9427150" cy="33284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21208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부재 · 데이터 미정리 · 책임·검증 체계 없음 · 사람 역할 재정의 실패 · 파일럿에서 멈춤.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49808" y="561441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실패는 모델 성능보다 '운영 설계 실패'에서 더 자주 발생합니다.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" y="60899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출처: Gartner 보도자료 (2025.6.25)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04 · Five Conditions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AX를 성공시키는 다섯 가지 조건 — 선도 기업이 다르게 하는 것들입니다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33777" y="1792224"/>
            <a:ext cx="9429958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777" y="1792224"/>
            <a:ext cx="9429958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KPI · 1~3개 도메인 집중 · 지식 베이스+표준 프롬프트 · 검증·승인 체계 · 역할 재정의.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2의 '프롬프트 템플릿 CSV'와 '검산표'가 바로 조건 3·4의 씨앗입니다.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사전학습 II · Part 04 · Episode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에피소드 · 대기업 회장이 본 10년 뒤 남아있을 직업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4754880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9968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직업의 미래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4096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사람, 여러 역할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3090672"/>
            <a:ext cx="40050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 지식의 장벽이 낮아진다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것은 질문·판단·책임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직업을 넘나든다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05079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토론 질문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4325112"/>
            <a:ext cx="40965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10년 뒤 내 역할은 무엇일까요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83258" y="1773936"/>
            <a:ext cx="2033348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13" name="Image 0" descr="fig/p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258" y="1773936"/>
            <a:ext cx="2033348" cy="35753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" y="545896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잘 쓰는 사람은 답을 맡기는 사람이 아니라, 일을 시키고 결과를 검증하는 사람입니다.</a:t>
            </a:r>
            <a:endParaRPr lang="en-US" sz="1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엔진.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사람은 운전자.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개인의 루틴을 부서의 시스템으로 — 그것이 중급입니다.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 · 중급 3시간</a:t>
            </a:r>
            <a:endParaRPr lang="en-US" sz="2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업무 시스템 — 파일 서너 개에서 부서 데이터로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그림·표는 원 강의자료를 그대로 옮겼으며, McKinsey·MCP·Gartner 통계는 2026년 9월 기준 공개 자료입니다. 통합 특강(90분·63장)은 별도 파일.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2026-09-09T09:53:41Z</dcterms:created>
  <dcterms:modified xsi:type="dcterms:W3CDTF">2026-09-09T09:53:41Z</dcterms:modified>
</cp:coreProperties>
</file>