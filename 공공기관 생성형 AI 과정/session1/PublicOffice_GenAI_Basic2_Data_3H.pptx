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97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데이터를</a:t>
            </a:r>
            <a:endParaRPr lang="en-US" sz="4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보고서로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 · 기초 2 · 데이터 3시간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3504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 → 분석 → 예측 → 보고 → 웹앱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59618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385048" y="960120"/>
            <a:ext cx="2478024" cy="4087368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85048" y="96012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5048" y="1544030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5048" y="212793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5048" y="271184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85048" y="329575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5048" y="3879669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85048" y="4463578"/>
            <a:ext cx="2478024" cy="583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웹앱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다섯 개가 각각 미니 웹앱 하나로 끝나고, 마지막에 하나로 합쳐집니다.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35608" y="2386584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78608" y="20116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믿는다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9088" y="2011680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품질검사와 정제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2386584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결측 · 중복 · 날짜오류 · 개인정보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280720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8368" y="2852928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35608" y="3227832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578608" y="285292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현황을 숫자로 말한다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19088" y="2852928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· 세그먼트 · 원인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227832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 · 재민원율 · 행정동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36484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8368" y="3694176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435608" y="4069080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578608" y="369417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달을 예측한다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19088" y="3694176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추세와 3개 시나리오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19088" y="4069080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보수 · 기준 · 낙관 · 발표용 차트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" y="448970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8368" y="4535424"/>
            <a:ext cx="731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435608" y="4910328"/>
            <a:ext cx="822960" cy="0"/>
          </a:xfrm>
          <a:prstGeom prst="line">
            <a:avLst/>
          </a:prstGeom>
          <a:noFill/>
          <a:ln w="31750">
            <a:solidFill>
              <a:srgbClr val="B7F34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78608" y="453542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자산으로 남긴다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19088" y="4535424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1페이지 보고서와 웹앱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9088" y="4910328"/>
            <a:ext cx="47548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PRD · 바이브코딩 · 재사용 템플릿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844253" y="5623560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8368" y="576986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5개 → 미니 웹앱 5개 → 통합 대시보드 1개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반나절이 같은 작업에 들어갑니다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세 시간이 없애려는 것은 그 반나절입니다.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10780776" cy="2523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60704" y="2084832"/>
            <a:ext cx="9976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첫째 주에 민원 CSV 한 파일이 내려옵니다. 794행. 팀장이 묻습니다. 이번 달 몇 건인지, 왜 늘었는지, 어디가 제일 느린지.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0704" y="2834640"/>
            <a:ext cx="9976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파일을 엽니다. 같은 민원이 두 번 접수된 것이 보이고, 날짜 형식이 섞여 있고, 만족도는 절반이 비어 있습니다. 눈으로 훑으며 지웁니다.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60704" y="3584448"/>
            <a:ext cx="99761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피벗을 다시 만들고, 서식을 다시 잡고, 숫자를 보고서에 옮겨 적습니다. 반나절이 갑니다. 다음 달에 처음부터 똑같이 합니다.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4553712"/>
            <a:ext cx="10780776" cy="106070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60704" y="4700016"/>
            <a:ext cx="9976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어려워서 오래 걸리는 게 아닙니다. 매달 똑같아서 오래 걸립니다.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0704" y="5065776"/>
            <a:ext cx="9976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오전에는 그 반나절을 절차로 바꿉니다. 규칙을 한 번 정해 두고 파일만 바꿉니다.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" y="574243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달에 만든 것이 다음 달에도 도는가 — 오늘의 기준은 그것 하나입니다.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5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3시간이 남기는 것은 보고서 한 장이 아니라 매달 도는 루틴입니다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48463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592824" y="1755648"/>
            <a:ext cx="4846320" cy="36118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지금의 월간 보고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같은 작업을 손으로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40965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피벗을 매달 다시 만든다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서식을 매번 새로 잡는다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담당자가 바뀌면 초기화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406908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달 뒤 남는 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434340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달 보고서 파일 하나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22008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이후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22008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파일만 바꾸면 도는 루틴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58584" y="3072384"/>
            <a:ext cx="40965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검증된 프롬프트 다섯 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보고서 자동 초안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브라우저에서 도는 웹앱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22008" y="406908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달 뒤 남는 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22008" y="434340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달에도 그대로 쓰는 업무 자산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" y="5449824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번 쓰고 버리는 산출물은 업무 혁신이 아닙니다.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9808" y="58521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달에도 도는 것만 자산으로 남습니다.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도구가 셋입니다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작업 대부분은 클로드 대화창에서 그냥 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3343656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· 엑셀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즉석 계산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0512" y="294436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입력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58444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0512" y="358444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xlsx 하나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22452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10512" y="422452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 다시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87552" y="47914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남이 셀을 고쳐야 할 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76928" y="1792224"/>
            <a:ext cx="3343656" cy="3529584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0611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 · 클로드 대화창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611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한 번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632960" y="29443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29072" y="294436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업로드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32960" y="358444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29072" y="358444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답변 · 표 · 차트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632960" y="422452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9072" y="422452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올려 설명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706112" y="47914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연락처는 지우고 올린다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95488" y="1792224"/>
            <a:ext cx="3343656" cy="352958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42467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· 클로드 코드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2467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반복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8351520" y="29443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47632" y="294436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PC 폴더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51520" y="358444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47632" y="358444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+ 절차 + 기록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8351520" y="422452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47632" y="422452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파일만 바꿔 실행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424672" y="47914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파일이 밖으로 안 나간다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9808" y="557784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고르는 기준은 기능이 아니라 “다음 달에도 하는가”입니다.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기준선 하나만 기억하면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문장이 대화창과 클로드 코드 양쪽에서 그대로 통합니다.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3105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한 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450592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794행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8096" y="3285744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달치 분석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" y="4120896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대화창으로 충분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92296" y="3529584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95800" y="1883664"/>
            <a:ext cx="3105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95800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같은 형식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5528" y="2450592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12개월 반복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05528" y="3285744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서식 고정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05528" y="4120896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클로드 코드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29728" y="3529584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333232" y="1883664"/>
            <a:ext cx="3105912" cy="32918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33232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바뀌지 않는 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2960" y="2450592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시키는 문장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42960" y="3285744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“행정동별로 묶어서…”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42960" y="4120896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양쪽 동일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844253" y="5577840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8368" y="572414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문장을 배워 두면 도구가 바뀌어도 그대로 쓰입니다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실습 다섯 개는 엑셀 기능 다섯 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 배우는 것은 마지막 하나뿐입니다.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10512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64408" y="1810512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하나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53328" y="1810512"/>
            <a:ext cx="5385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엑셀의 그 기능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26771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· 품질검사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264408" y="2267712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중복·결측 잡기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53328" y="2267712"/>
            <a:ext cx="5385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 Remove Duplicates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74320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2889504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· KPI · 세그먼트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264408" y="2889504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행정동·유형별 비교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53328" y="2889504"/>
            <a:ext cx="5385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테이블 PivotTable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36499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3511296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· 원인 후보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264408" y="3511296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느린 곳을 찾아 강조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53328" y="3511296"/>
            <a:ext cx="5385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조건부 서식 Conditional Formatting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398678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4133088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· 예측 · 시각화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264408" y="4133088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추이 그리기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053328" y="4133088"/>
            <a:ext cx="5385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Chart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46085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8368" y="475488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· 1페이지 보고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264408" y="475488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숫자를 문장으로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053328" y="4754880"/>
            <a:ext cx="5385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엑셀에는 없는 단계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58368" y="523036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844253" y="5504688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8368" y="5650992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 개는 하던 일입니다. 다섯째만 오늘 새로 배웁니다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9808" y="605332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실습 1에는 찾기·바꾸기(Find &amp; Replace)와 데이터 유효성 검사(Data Validation)도 함께 들어갑니다.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효율보다 먼저 지켜야 할 것은 책임 있는 사용 구조입니다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1031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04088" y="210312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원본 보존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정제본만 수정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60904" y="2880360"/>
            <a:ext cx="164592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62072" y="21031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07792" y="210312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정보 마스킹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연락처 제거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64608" y="2880360"/>
            <a:ext cx="164592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65776" y="21031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111496" y="210312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숫자 재검산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원천 재확인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68312" y="2880360"/>
            <a:ext cx="164592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269480" y="210312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0" y="210312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사실·가설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 표기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272016" y="2880360"/>
            <a:ext cx="164592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473184" y="2103120"/>
            <a:ext cx="1965960" cy="155448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518904" y="210312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사람 승인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 확정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208276" y="4224528"/>
            <a:ext cx="7680960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8368" y="4370832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프롬프트는 출처 · 불확실성 · 반박 가능성을 함께 묻는다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" y="535838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다섯 가지가 빠진 산출물은 결재선에 올릴 수 없습니다.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개인정보가 포함된 원본은 외부 서비스에 올리기 전 소속 기관의 이용 지침을 먼저 확인합니다.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입력은 파일 세 개, 산출은 일곱 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92224"/>
            <a:ext cx="33436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원본 794행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2944368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10512" y="2944368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12개월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344875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10512" y="3344875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10종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3745382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10512" y="3745382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145890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10512" y="4145890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546397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10512" y="4546397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중복·오류 포함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76928" y="1792224"/>
            <a:ext cx="3343656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70611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PROCESS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611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5단계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632960" y="2944368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29072" y="2944368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품질검사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32960" y="3344875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9072" y="3344875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· 세그먼트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32960" y="3745382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29072" y="3745382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후보 TOP3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32960" y="4145890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29072" y="4145890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 · 시각화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632960" y="4546397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29072" y="4546397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1페이지 보고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095488" y="1792224"/>
            <a:ext cx="3343656" cy="34747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42467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OUTPUT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2467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자산 3종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8351520" y="2944368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문서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47632" y="2944368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보고서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351520" y="3344875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47632" y="3344875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미니 웹앱 5개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8351520" y="3745382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47632" y="3745382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대시보드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351520" y="4145890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템플릿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47632" y="4145890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Prompt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8351520" y="4546397"/>
            <a:ext cx="841248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247632" y="4546397"/>
            <a:ext cx="1935480" cy="34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품질·검증 기록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49808" y="557784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그중 셋은 다음 달에도 그대로 돕니다.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설명은 짧게, 입력 → 출력 → 검증을 다섯 번 반복합니다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700784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14016" y="1700784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88536" y="170078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활동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86016" y="1700784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41664" y="170078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단계의 웹앱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157984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00:00–00:35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414016" y="2157984"/>
            <a:ext cx="1874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데이터 품질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88536" y="2157984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결측·중복·날짜오류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986016" y="2157984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 보고서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741664" y="2157984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 점검기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8368" y="2779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8368" y="2926080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00:35–01:10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414016" y="2926080"/>
            <a:ext cx="1874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KPI·세그먼트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88536" y="2926080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규모·구성·추이 비교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986016" y="2926080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요약표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741664" y="2926080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카드 화면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8368" y="354787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58368" y="3694176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01:10–01:45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414016" y="3694176"/>
            <a:ext cx="1874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원인 TOP3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288536" y="3694176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재민원율·처리일수 격차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86016" y="3694176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후보표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741664" y="3694176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탐색기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" y="431596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58368" y="4462272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01:45–02:20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2414016" y="4462272"/>
            <a:ext cx="1874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예측·시각화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288536" y="4462272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보수·기준·낙관 3개 안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86016" y="4462272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예측표·차트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741664" y="4462272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시나리오 계산기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58368" y="508406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58368" y="5230368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02:20–03:00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2414016" y="5230368"/>
            <a:ext cx="1874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보고·통합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288536" y="5230368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1페이지 보고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6986016" y="5230368"/>
            <a:ext cx="1755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보고서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741664" y="5230368"/>
            <a:ext cx="2697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대시보드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58368" y="585216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49808" y="570585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단계는 실습 20분 + 공유 10분. 마지막 5분에 그 단계의 화면을 웹앱으로 굳힙니다.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만지는 파일은 네 개뿐입니다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75888" y="173736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07808" y="1737360"/>
            <a:ext cx="1874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82328" y="1737360"/>
            <a:ext cx="1956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쓰는 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194560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01_complaints_raw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75888" y="2194560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접수·처리·만족도 원본(오염 포함)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07808" y="2194560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794행 × 14열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482328" y="2194560"/>
            <a:ext cx="195681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1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8368" y="292608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" y="3072384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02_complaints_segments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75888" y="307238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유형·행정동·채널·연령대 집계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07808" y="3072384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86행 × 8열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82328" y="3072384"/>
            <a:ext cx="195681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2 · 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58368" y="380390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58368" y="3950208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03_complaints_monthly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675888" y="3950208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12개월 총민원·처리일수·재민원율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607808" y="3950208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12행 × 7열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82328" y="3950208"/>
            <a:ext cx="195681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58368" y="468172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8368" y="4828032"/>
            <a:ext cx="3017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04_prompt_templates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3675888" y="4828032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5요소 프롬프트 템플릿 7종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607808" y="4828032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7행 × 7열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482328" y="4828032"/>
            <a:ext cx="195681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5 · 웹앱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555955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49808" y="557784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01번 파일에는 연락처 컬럼과 중복·날짜오류가 의도적으로 들어 있습니다. 그대로 분석하면 보고서가 틀립니다.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내려받기 → 실습 폴더에 풀고, 원본 폴더는 읽기 전용으로 둡니다.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프롬프트는 질문이 아니라 업무 지시서입니다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48463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592824" y="1755648"/>
            <a:ext cx="4846320" cy="36118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흔한 요청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“민원 데이터 좀 분석해 줘”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40965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셀지 정하지 않음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형식이 매번 달라짐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기준이 없음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406908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434340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매번 다른 답, 재사용 불가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22008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5요소 프롬프트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22008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칸마다 답이 정해진다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958584" y="3072384"/>
            <a:ext cx="40965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책임과 말투를 지정한다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계산과 형식을 못 박는다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금지사항을 명시한다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22008" y="406908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22008" y="434340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파일만 바꾸면 반복되는 명령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" y="5449824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쓰는 프롬프트 다섯 개는 전부 이 다섯 칸으로 되어 있습니다.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9808" y="5852160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칸이 비면 그 자리를 AI가 마음대로 채웁니다.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데이터에서 보고서까지 — 실습 다섯 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실습은 표 한 장으로 끝나지 않고, 그 화면을 웹앱으로 굳히며 끝난다.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전에 “이 파일을 믿어도 되는가”부터 확인합니다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1 / 5 · 00:00–00:35 · 데이터 품질검사와 정제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📌 학습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믿을 수 있는 정제본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 수와 컬럼 의미 파악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결측·중복·논리오류 식별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개인정보 컬럼 처리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🎯 공공 실무 맥락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데이터의 단골 오류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날짜 형식 네 종류가 섞임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민원이 중복 접수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처리일이 접수일보다 빠름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🔧 이 실습이 남기는 웹앱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데이터 품질 점검기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CSV를 올리면 오류를 표시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정제본을 내려받는다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정제본이 흔들리면 뒤의 네 단계가 전부 흔들립니다.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원본은 절대 덮어쓰지 않습니다. 정제 결과는 별도 파일로 저장하고, 지운 행은 이유를 남깁니다.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B1 · 데이터 품질검사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1 프롬프트 — 그대로 복사해 실행하고 파일명만 바꿉니다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01_complaints_raw.csv 794행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 보고서 + 정제본 CSV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공공기관 데이터 분석 보조자다. 원본을 보존하고 위험부터 점검한다.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01_complaints_raw.csv (794행 × 14열). 접수일·처리일수·처리상태·만족도·재민원여부·연락처를 포함한다.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14714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전체 행 수와 컬럼별 의미·자료형을 정리하라.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결측을 컬럼별 건수와 비율로, 완전 중복과 “민원ID만 다른 실질 중복”을 나누어 집계하라.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날짜 형식이 몇 종류인지 세고 하나로 통일하라.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처리일 &lt; 접수일, 처리일수의 음수·0·999 같은 논리 오류를 행번호와 함께 제시하라.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개인정보 컬럼을 지목해 마스킹 규칙을 제안하고, 위 규칙을 적용한 정제본 CSV를 만들어라.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32206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86072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 보고서 표(항목 · 건수 · 비율 · 조치) → 정제 규칙 목록 → 사람이 판단해야 할 항목 3개 → 정제본 파일.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행을 삭제하지 말고 정제본에서만 처리한다. 수정·삭제한 행은 행번호와 이유를 남긴다. 판단이 애매하면 임의로 정하지 말고 되물어라.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확인 — 완전 중복 18건 · ID만 다른 중복 12건 · 처리일 &lt; 접수일 9건 · 처리일수 이상값 7건 · 날짜 형식 4종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APP · A1 · 품질 점검기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점검을 매달 반복하려면 화면으로 굳힙니다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규칙 4가지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 점검 화면 HTML 1개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 업무용 웹앱을 만들어 주는 프론트엔드 파트너다. 외부 라이브러리 없이 HTML 파일 하나로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424684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488692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사용자는 공공기관 민원 담당자다. 매달 받는 민원 CSV를 분석에 넘기기 전에 스스로 점검하고 싶다. 컬럼 구성은 앞 실습과 같다.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308457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148584"/>
            <a:ext cx="10085832" cy="14714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화면을 세 영역으로 만든다.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상단 CSV 업로드 — 올리기 전에는 필요한 컬럼 목록을 안내한다.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점검 카드 6개 — 전체 행 수 · 결측 셀 · 완전 중복 · 실질 중복 · 날짜 오류 · 이상값. 카드를 누르면 해당 행이 아래 표에 나온다.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정제본 내려받기 — 중복 제거 · 날짜 통일 · 연락처 마스킹을 적용한 CSV를 저장한다.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· 단일 HTML 파일 · 반응형. 흰 배경에 위험 항목만 빨강으로 표시한다.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서버로 보내지 말고 브라우저 안에서만 처리한다. 연락처는 화면에서도 마스킹해 보여준다. 원본 파일은 수정하지 않는다.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— Claude Artifacts · Google AI Studio Build · v0 · Bolt 중 하나. 결과가 다르면 프롬프트가 아니라 도구 차이입니다.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“건수”만 보지 말고 어디에서 다른지 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2 / 5 · 00:35–01:10 · 현황 KPI와 세그먼트 비교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📌 학습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여섯 개를 고정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총민원 · 완료율 · 처리일수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재민원율 · 평균만족도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유형별 · 행정동별 분포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🎯 공공 실무 맥락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평균은 문제를 숨긴다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평균 처리일 7.7일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가온동만 12.2일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건축 인허가 14.8일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🔧 이 실습이 남기는 웹앱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카드 화면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지표 카드 6개를 한 화면에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행정동·유형 필터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 뒤에 숨은 집단을 찾는 것이 KPI 분석의 목적입니다.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만족도는 응답률이 약 62%입니다. 부서별 만족도를 비교할 때는 반드시 응답 수를 함께 봅니다.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B2 · 현황 KPI와 세그먼트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2 프롬프트 — 규모 · 구성 · 추이 순서로 고정합니다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 748행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요약표 + 세그먼트 비교표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부서장 보고용 민원 KPI 분석가다. 계산 근거를 함께 제시한다.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1의 정제본과 02_complaints_segments.csv를 사용한다. 세그먼트 파일은 민원유형 · 행정동 · 접수채널 · 연령대 · 부서 · 처리상태별 집계와 유형×행정동 교차표를 담고 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핵심 KPI 6종을 계산하라 — 총민원, 완료율, 평균처리일수, 재민원율, 평균만족도, 미처리 건수.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규모 → 구성 → 추이 순서로 요약하라.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민원유형 · 행정동 · 접수채널 · 연령대별로 평균처리일수 · 만족도 · 재민원율의 차이를 비교하고, 전체 평균 대비 격차가 큰 세그먼트를 지목하라.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만족도 비교에는 응답 수를 함께 표시하라.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요약표 → 상위 변화 3개 → 세그먼트 비교표 → 결론 3줄.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 근거가 없는 원인 단정을 하지 마라. 표본이 30건 미만인 세그먼트는 “표본 부족”으로 표시한다. 데이터에 없는 값을 지어내지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확인 — 가온동 평균 12.2일 대 그 외 6.9일 · 건축 인허가 14.8일 · 만족도 응답률 약 62%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APP · A2 · KPI 카드 화면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KPI는 매달 같은 자리에 같은 순서로 있어야 읽힙니다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6종 정의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카드 화면 HTML 1개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 웹앱을 만드는 프론트엔드 파트너다. HTML 파일 하나로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62140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226148"/>
            <a:ext cx="10085832" cy="657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사용자는 부서장에게 매달 민원 현황을 보고한다. 정제본 CSV를 올리면 같은 지표가 같은 자리에 나오길 원한다.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874541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938549"/>
            <a:ext cx="10085832" cy="1602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상단 KPI 카드 6개 — 총민원, 완료율, 평균처리일수, 재민원율, 평균만족도(응답 수 병기), 미처리 건수.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카드 아래 세그먼트 비교표 — 민원유형 · 행정동 · 접수채널 · 연령대를 탭으로 전환한다.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전체 평균보다 나쁜 값은 빨강, 좋은 값은 회색으로 표시한다.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상단에 행정동 · 민원유형 필터를 두고, 필터를 바꾸면 카드와 표가 함께 갱신된다.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532099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596107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· 단일 HTML 파일 · 반응형. 카드는 한 줄에 세 개씩 두 줄.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29447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4993455"/>
            <a:ext cx="10085832" cy="657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표본 30건 미만 세그먼트에는 “표본 부족” 배지를 단다. 지표 계산식은 화면 하단에 그대로 적어 둔다. 연락처 컬럼은 화면에 띄우지 않는다.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검산 — 카드에 찍힌 총민원 수와 표 합계가 같은지 먼저 확인합니다.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분석은 “근거 있는 가설”까지만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3 / 5 · 01:10–01:45 · 원인 후보 TOP3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📌 학습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확실성 등급이 붙은 가설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재민원율 높은 집단 식별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 격차의 위치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추가로 볼 데이터 지정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🎯 공공 실무 맥락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인과로 단정하면 위험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온라인 재민원율이 높아 보임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실제로는 쓰레기 민원이 몰림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채널 탓이 아니라 구성 효과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🔧 이 실습이 남기는 웹앱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탐색기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축을 골라 격차를 본다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 카드로 저장한다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원인을 단정하는 순간 보고서의 신뢰가 떨어집니다.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AI가 말한 “원인”이 실제 컬럼에서 계산된 것인지 매번 되묻습니다. 근거 컬럼을 못 대면 가설로 내립니다.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B3 · 원인 후보 TOP3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3 프롬프트 — 원인마다 확실성과 다음 확인 데이터를 붙입니다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세그먼트 비교표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후보 3개 (5열 표)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민원 재발 방지 과제를 찾는 정책분석 담당자다. 단정 대신 검증 가능한 가설을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6214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226148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02_complaints_segments.csv와 실습 2의 KPI 요약표를 사용한다.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55948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623497"/>
            <a:ext cx="10085832" cy="1917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재민원율과 평균처리일수가 전체 평균보다 유의하게 높은 유형·집단을 찾아라.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각 집단에 대해 원인 후보를 세 개까지 제시하고, 각각의 근거 지표를 컬럼명과 수치로 명시하라.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원인 후보마다 확실성을 상/중/하로 표시하고, 그 등급을 매긴 이유를 한 줄로 적어라.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지금 데이터로는 확인할 수 없는 것을 구분하고, 무엇을 더 받아야 확인되는지 적어라.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다른 변수의 구성 차이로 설명될 수 있는 후보는 “구성 효과 의심”으로 표시하라.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53209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596107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후보 · 근거 지표 · 확실성 · 반증 방법 · 추가 확인 데이터 5열 표.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29447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4993455"/>
            <a:ext cx="10085832" cy="657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상관관계를 인과관계로 서술하지 마라. 표본이 작은 집단은 결론에 쓰지 마라. 데이터로 확인되지 않는 조직·인력 문제를 추정하지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함정 — 접수채널별 재민원율 격차는 채널의 문제가 아니라 쓰레기 민원의 채널 쏠림에서 나옵니다.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APP · A3 · 원인 탐색기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가설은 말로 남기지 말고 화면에 저장합니다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후보 + 근거 지표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탐색 화면 HTML 1개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 웹앱을 만드는 프론트엔드 파트너다. HTML 파일 하나로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사용자는 민원 재발 원인을 찾는 담당자다. 세그먼트 CSV를 올리고 축을 바꿔가며 격차를 보고 싶다.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2049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상단에서 비교 축(민원유형 · 행정동 · 접수채널 · 연령대)과 지표(재민원율 · 평균처리일수 · 평균만족도)를 고르게 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선택한 축의 값을 가로 막대로 보여주고, 전체 평균선을 함께 그린다.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막대를 누르면 그 집단의 건수 · 표본 수 · 전체 대비 격차를 옆에 표시한다.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“가설로 저장” 버튼 — 집단, 지표, 격차, 확실성(상/중/하), 다음 확인 데이터를 적어 목록에 쌓는다.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저장한 가설 목록을 표로 내려받는다.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899660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963668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· 단일 HTML 파일 · 반응형. 왼쪽 차트, 오른쪽 가설 목록.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270754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334762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표본 30건 미만은 막대를 회색으로 표시하고 경고를 단다. 앱이 원인을 단정하지 않는다.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앱의 목적은 답을 주는 것이 아니라, 가설과 근거를 같은 화면에 묶어 두는 것입니다.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예측값보다 가정이 붙은 세 개가 안전합니다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4 / 5 · 01:45–02:20 · 추세 · 시나리오 · 발표용 차트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📌 학습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가정이 보이는 예측표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최근 6개월 추세 확인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보수·기준·낙관 3개 안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제목이 결론이 되게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🎯 공공 실무 맥락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쓰레기 민원의 여름 급증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최근 4개월 68건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직전 4개월 46건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 48% 증가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🔧 이 실습이 남기는 웹앱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시나리오 계산기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증가율을 손으로 바꿔 본다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개 안을 표로 저장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예측은 결정을 돕는 참고자료이지 확정된 사실이 아닙니다.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계절성과 추세를 구분합니다. 여름철 급증을 연간 추세로 늘려 쓰면 다음 분기 예산 근거가 무너집니다.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B4 · 3개 시나리오 예측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4 프롬프트 — 값 하나가 아니라 범위와 가정을 요구합니다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월별 12개월 추이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시나리오 3개 예측표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간부회의용 추세·예측 자료를 만드는 분석가다. 가정을 숨기지 않는다.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03_complaints_monthly.csv (12개월)을 사용한다. 컬럼은 월 · 총민원건수 · 쓰레기민원건수 · 평균처리일수 · 미처리건수 · 평균만족도 · 재민원율이다.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최근 6개월 추세를 총민원 · 쓰레기민원 · 평균처리일수로 나누어 방향과 변화 속도를 서술하라.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계절성으로 설명되는 부분과 추세로 보이는 부분을 구분하라.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다음 달 값을 보수 · 기준 · 낙관 세 가지로 예측하고, 각각의 가정과 계산 방식을 함께 적어라.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발표용 차트 두 개를 기획하라 — 차트 제목이 그 자체로 결론이 되게 쓴다.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이 예측이 틀릴 수 있는 조건 두 가지를 적어라.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추세 요약 → 예측표(시나리오 · 가정 · 값 · 계산식) → 차트 2개 기획 → 과장 가능성 점검.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예측값만 제시하지 마라. 12개월 데이터로 연 단위 추세를 단정하지 마라. 축 · 단위 · 기간 · 반올림을 명시하라.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확인 — 2026년 7월 19건, 8월 28건. 총민원은 완만한 증가, 쓰레기민원은 계절 급증이 겹쳐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APP · A4 · 시나리오 계산기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가정을 손으로 바꿔 볼 수 있어야 회의에서 방어됩니다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시나리오 가정값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시나리오 계산기 HTML 1개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 웹앱을 만드는 프론트엔드 파트너다. HTML 파일 하나로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3588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19989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사용자는 간부회의에서 다음 달 민원 전망을 설명한다. 월별 요약 CSV를 올리고 가정을 조절해 결과가 어떻게 바뀌는지 보여주려 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795778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859786"/>
            <a:ext cx="10085832" cy="1760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월별 요약 CSV를 올리면 총민원 · 쓰레기민원 · 평균처리일수의 12개월 선그래프를 그린다.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보수 · 기준 · 낙관 세 개의 증가율 입력칸을 두고, 초깃값은 최근 6개월 평균 증가율에서 각각 −50% · 0% · +50%로 잡는다.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입력을 바꾸면 다음 달 예측값과 세 개 시나리오 표가 즉시 갱신된다.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각 시나리오 옆에 적용된 계산식을 문장으로 표시한다.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결과 표를 CSV로 내려받는다.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316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· 단일 HTML 파일 · 반응형. 위 그래프, 아래 입력칸과 결과표.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 시나리오만 강조하고 나머지는 회색으로 둔다. 예측선은 실선이 아니라 점선으로 그린다. 신뢰구간이라는 표현은 쓰지 않는다.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슬라이더를 움직이며 설명하면 “왜 그 숫자냐”는 질문이 그 자리에서 끝납니다.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결과를 다음 행동을 승인받는 문서로 압축합니다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5 / 5 · 02:20–03:00 · 기관장 1페이지 보고서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📌 학습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장에 결정 요청까지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핵심요약 3줄 · 지표표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후보와 전망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의사결정 요청 1문장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🎯 공공 실무 맥락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기관장은 결정을 본다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승인해야 하는가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 하면 무엇이 나빠지는가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근거는 어디서 나왔는가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🔧 이 실습이 남기는 웹앱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초안 생성기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 산출물을 붙여 넣는다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1페이지 초안을 만든다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 요청이 없는 보고서는 읽히기만 하고 아무것도 바꾸지 못합니다.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보고서에 들어가는 모든 숫자는 원천 파일과 계산식을 다시 확인한 뒤 옮깁니다.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B5 · 기관장 1페이지 보고서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5 프롬프트 — 숫자마다 출처와 계산법을 달게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앞의 표 전부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A4 1페이지 보고서 초안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기관장 보고서를 작성하는 기획 담당자다. 결정에 필요한 것만 남긴다.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6214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226148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지금까지 만든 정제본 · KPI 요약표 · 원인 후보표 · 예측표 · 차트 기획을 모두 사용한다.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55948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623497"/>
            <a:ext cx="10085832" cy="1917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제목 → 핵심요약 3줄 → 주요지표 표 → 원인 후보 → 다음 달 전망 → 실행 제안 → 의사결정 요청 순서로 한 장을 작성하라.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각 문장 앞에 [사실] · [가설] · [제안] 중 하나를 붙여라.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실행 제안은 담당 부서와 소요 기간을 함께 적어라.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의사결정 요청은 한 문장으로, 승인 대상이 무엇인지 분명히 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마지막에 이 결론을 반박할 수 있는 증거와 가장 취약한 가정 세 개를 별도 상자로 적어라.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53209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596107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A4 한 장 분량. 모든 숫자 옆에 (원천 파일 · 계산식) 표기. 불확실성은 별도 상자.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29447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4993455"/>
            <a:ext cx="10085832" cy="657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개인정보와 특정 민원인을 식별할 수 있는 표현을 넣지 마라. 앞 단계에서 계산되지 않은 숫자를 새로 만들지 마라.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반박 상자가 있는 보고서가 오히려 더 빨리 승인됩니다. 취약점을 먼저 밝히면 질문이 줄어듭니다.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APP · A5 · 보고서 초안 생성기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서식은 매달 새로 잡지 않습니다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항목 구조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생성기 HTML 1개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 웹앱을 만드는 프론트엔드 파트너다. HTML 파일 하나로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62140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226148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사용자는 매달 같은 형식의 기관장 1페이지 보고서를 쓴다. 지표와 문장만 바뀌고 뼈대는 같다.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559489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623497"/>
            <a:ext cx="10085832" cy="1917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왼쪽에 입력 영역 — 기간, 주요 지표 6개, 원인 후보 3개, 전망 3개 시나리오, 실행 제안, 의사결정 요청을 칸으로 나눠 받는다.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오른쪽에 A4 비율의 보고서 미리보기를 실시간으로 그린다.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각 문장 앞의 [사실]·[가설]·[제안] 태그를 선택으로 붙이고, 태그별로 색을 달리한다.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하단에 불확실성 상자를 고정으로 둔다.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인쇄 버튼으로 A4 한 장에 맞춰 출력한다.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532099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596107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· 단일 HTML 파일 · 좌우 2단, 인쇄 시에는 미리보기만 나온다.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29447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4993455"/>
            <a:ext cx="10085832" cy="657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입력값을 브라우저 밖으로 보내지 않는다. 빈 칸이 있으면 인쇄를 막고 어느 칸인지 알려준다. 의사결정 요청은 한 문장만 받는다.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다섯 개 앱이 다 만들어졌습니다. 이제 이것을 한 화면으로 합칩니다.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미니 웹앱 다섯 개를 하나의 대시보드로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 정의 → PRD → 앱 생성 → 개선 → 테스트 · 공유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다섯 개를 매달 따로 여는 것은 루틴이 아닙니다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92224"/>
            <a:ext cx="33436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CLAUDE ARTIFACTS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 안에서 바로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2944368"/>
            <a:ext cx="84124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10512" y="2944368"/>
            <a:ext cx="193548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맥락 유지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399282"/>
            <a:ext cx="84124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10512" y="3399282"/>
            <a:ext cx="193548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수정이 빠르다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3854196"/>
            <a:ext cx="84124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10512" y="3854196"/>
            <a:ext cx="193548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공유 제한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309110"/>
            <a:ext cx="84124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10512" y="4309110"/>
            <a:ext cx="193548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중 시연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376928" y="1792224"/>
            <a:ext cx="33436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0611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AI STUDIO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611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Build 모드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632960" y="2944368"/>
            <a:ext cx="84124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29072" y="2944368"/>
            <a:ext cx="193548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무료·즉시 배포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32960" y="3399282"/>
            <a:ext cx="84124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29072" y="3399282"/>
            <a:ext cx="193548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링크 공유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32960" y="3854196"/>
            <a:ext cx="84124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9072" y="3854196"/>
            <a:ext cx="193548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흔들림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32960" y="4309110"/>
            <a:ext cx="84124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29072" y="4309110"/>
            <a:ext cx="193548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 공유용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095488" y="1792224"/>
            <a:ext cx="3343656" cy="32918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42467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v0 · BOLT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2467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프런트엔드 특화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351520" y="2944368"/>
            <a:ext cx="84124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47632" y="2944368"/>
            <a:ext cx="193548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완성도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351520" y="3399282"/>
            <a:ext cx="84124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47632" y="3399282"/>
            <a:ext cx="193548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컴포넌트 수정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351520" y="3854196"/>
            <a:ext cx="84124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약점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247632" y="3854196"/>
            <a:ext cx="193548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가입·요금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351520" y="4309110"/>
            <a:ext cx="841248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47632" y="4309110"/>
            <a:ext cx="193548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다듬을 때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도구는 바꿔도 됩니다. 바뀌면 안 되는 것은 PRD입니다.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기관 내부망에서는 외부 배포형 도구를 쓸 수 없는 경우가 많습니다. HTML 파일 하나로 도는 형태를 기본으로 만듭니다.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흐릿한 요청을 개발자가 바로 만들 수 있는 문장으로 옮깁니다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4846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592824" y="1755648"/>
            <a:ext cx="4846320" cy="365760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1단계 / 5 · 흔한 요청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468880"/>
            <a:ext cx="41879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“민원 현황을 한 화면에서</a:t>
            </a:r>
            <a:endParaRPr lang="en-US" sz="2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봤으면 좋겠어요”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4128" y="3465576"/>
            <a:ext cx="409651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결정하는지 없다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범위가 열려 있다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411480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438912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만들 때마다 다른 앱이 나온다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22008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 문서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22008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문장 = 하나의 요구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958584" y="3072384"/>
            <a:ext cx="409651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기능 넷과 그 질문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넣지 않을 기능 둘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22008" y="411480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22008" y="438912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도구가 바뀌어도 같은 앱이 나온다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" y="543153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범위를 닫는 문장 두 개가 앱의 완성도를 결정합니다.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49808" y="594360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금지어 — “적절히 · 알아서 · 직관적으로 · 최적화”. 도구에 해석 여지를 주면 같은 프롬프트에서 다른 앱이 나옵니다.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W1 · 요구사항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1단계 프롬프트 — 사용자와 범위를 먼저 못 박습니다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 1~5 산출물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 정의서 1페이지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 업무 도구를 기획하는 프로덕트 오너다. 개발자가 바로 만들 수 있는 수준으로 요구사항을 정리한다.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41401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478024"/>
            <a:ext cx="10085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정제본·KPI·원인 후보·예측이 준비됐다. 이를 “민원 현황 대시보드” 하나로 합친다. 입력은 정제본 CSV와 03_complaints_monthly.csv 두 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306324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127248"/>
            <a:ext cx="10085832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페이지로 정리하라.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사용자 — 민원 부서장. 이 화면에서 무엇을 판단하는가. 지금은 무엇이 불편한가.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핵심 기능 4가지 — KPI 카드 / 지연 목록 / 월별 추세 / 조치 권고. 기능마다 답하는 질문을 함께 쓴다.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성공 기준 — 이 화면이 있으면 몇 분 안에 무엇이 가능한가.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이번에 넣지 않는 기능 두 가지.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84632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910328"/>
            <a:ext cx="100858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항목별 소제목과 불릿. 표를 써도 된다. 전체 한 페이지.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21208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276088"/>
            <a:ext cx="100858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문장에 하나의 요구만 담아라. “적절히·알아서·직관적으로” 같은 표현을 쓰지 마라. 없는 컬럼을 요구하지 마라.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W2 · PRD 본문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2단계 프롬프트 — 이 한 장으로 동작하는 대시보드가 나옵니다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 정의서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complaint_dashboard.html 1차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425696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641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사내용 웹 대시보드를 만드는 프론트엔드 개발 파트너다. 한국어 UI의 단일 페이지 웹앱을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461260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525268"/>
            <a:ext cx="10085832" cy="641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부서장이 이번 달 상황과 다음 달 전망을 한 화면에서 본다. CSV 두 개 — 정제본(민원유형·행정동·처리상태·처리일수·만족도)과 월별요약(월·총민원·쓰레기민원).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3157728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221736"/>
            <a:ext cx="10085832" cy="15628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화면을 네 영역으로 구성한다.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1) KPI 카드 4개 — 총민원·완료율·평균처리일수·재민원율. 전월 대비 증감 표시.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2) 지연 목록 표 — 민원유형·행정동·처리일수·재민원·종합등급. 등급은 색 배지로.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3) 월별 추세 차트 — 총민원·쓰레기민원 선그래프. 둘째 CSV가 없으면 숨긴다.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4) 조치 권고 — 종합등급 '상' 집단마다 카드로 원인 지표와 조치.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775454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839462"/>
            <a:ext cx="10085832" cy="334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한국어 UI · 단일 HTML 파일 · 반응형. 상단 CSV 업로드 후 1)~4) 순서. 필터와 표 정렬 포함.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16483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228844"/>
            <a:ext cx="10085832" cy="641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 규칙 숫자를 바꾸지 마라. 빈 셀은 “데이터 없음”으로 두고 계산에서 뺀다. 외부 라이브러리 없이, 서버로 보내지 마라.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앱에 그대로 들어갈 숫자는 사람이 먼저 정합니다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3단계 / 5 · 판정 규칙 — 앞 슬라이드 프롬프트 아래에 그대로 붙여 넣습니다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4825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 항목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90088" y="204825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 (빨강)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93208" y="204825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 (주황)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96328" y="204825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 (회색)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99448" y="2048256"/>
            <a:ext cx="2139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 컬럼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50545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 지연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990088" y="250545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15일 이상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93208" y="250545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8일 이상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96328" y="250545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8일 미만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99448" y="2505456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294436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3090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재민원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990088" y="309067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20% 이상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93208" y="309067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12% 이상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96328" y="309067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12% 미만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99448" y="3090672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재민원여부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8368" y="352958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8368" y="367588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만족도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2990088" y="36758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3.4 미만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93208" y="36758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3.4~3.9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96328" y="367588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 초과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299448" y="3675888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만족도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411480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8368" y="426110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미처리 적체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2990088" y="426110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15건 이상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093208" y="426110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8건 이상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196328" y="426110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8건 미만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299448" y="4261104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처리상태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58368" y="470001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8368" y="484632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종합등급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2990088" y="48463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 2개 이상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5093208" y="48463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 1개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7196328" y="484632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 없음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9299448" y="4846320"/>
            <a:ext cx="21396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 4개 종합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658368" y="528523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49808" y="554126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전체 평균은 처리일수 7.7일 · 재민원율 13.4% · 만족도 3.93. 임계값은 기관마다 다시 정합니다.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49808" y="5943600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규칙을 숫자로 못 박지 않으면 AI는 “위험한 곳이 위험하다”는 순환 정의를 만듭니다.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앱이 뜨면 화면을 보기 전에 숫자부터 검산합니다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4단계 / 5 · 앱 생성과 확인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 · 빈 화면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안내가 뜨는가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업로드 전 안내 문구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 컬럼 목록 표시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 · 숫자 대조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손으로 맞춰 본다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총민원 = 표 합계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완료율 = 완료 ÷ 전체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10896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3 · 규칙·정보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규칙이 살아 있는가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15일 이상이 빨강인가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연락처가 안 보이는가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31536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화면이 그럴듯하다는 것은 숫자가 맞다는 뜻이 아닙니다.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9808" y="5833872"/>
            <a:ext cx="10780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셀이라도 손으로 계산해 맞춰 본 뒤에 공유합니다.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COPY PROMPT · W3 · 기능 개선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5단계 프롬프트 — 개선은 반드시 한 번에 하나씩입니다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1차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2차 (기능 1개 추가)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방금 만든 대시보드를 개선하는 개발 파트너다. 요청을 한 번에 하나씩 반영한다.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16214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226148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대시보드가 동작 중이다. 부서장은 “지금 손댈 곳이 어디인지”를 더 빨리 보고 싶어 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55948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623497"/>
            <a:ext cx="10085832" cy="22327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아래를 순서대로 반영하되, 하나를 끝내고 화면이 깨지지 않았는지 확인한 뒤 다음으로 넘어가라.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필터 — 행정동 필터와 “종합등급 상만 보기” 토글을 상단에 둔다.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상세 패널 — 지연 목록의 행을 누르면 건수·평균처리일수·재민원율·최근 추세·권고 조치가 오른쪽(모바일은 아래)에 열린다.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자동 문구 — 조치 권고를 판정 결과에 맞춰 생성한다. 예: 처리지연 상 + 재민원 상 → “접수 단계 안내 보강과 처리 인력 재배치 검토”.</a:t>
            </a:r>
            <a:endParaRPr lang="en-US" sz="16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개선마다 무엇이 바뀌었는지 한 줄로 요약하라.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84715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911159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화면 구성과 색 체계를 유지하고, 추가되는 UI만 자연스럽게 끼워 넣는다.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24450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308508"/>
            <a:ext cx="10085832" cy="3424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임계값을 바꾸지 마라. 기존 기능이 사라지면 안 된다.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흔한 실패 — 세 개를 한꺼번에 요청하면 연쇄 버그가 납니다. “예쁘게 해줘”는 화면을 통째로 리셋시킵니다.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공유하기 전에 앱을 일부러 깨뜨려 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마무리 · 테스트와 배포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39696"/>
            <a:ext cx="3343656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395728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입력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7977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깨지는지 본다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4128" y="3291840"/>
            <a:ext cx="26487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 CSV를 올린다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컬럼명을 하나 바꾼다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처리일수에 999를 넣는다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39696"/>
            <a:ext cx="3343656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6112" y="2395728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경계값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7977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 경계를 친다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42688" y="3291840"/>
            <a:ext cx="26487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 정확히 15일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재민원율 정확히 20%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만족도 결측 행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39696"/>
            <a:ext cx="3343656" cy="30175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24672" y="2395728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공유 전 점검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7977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이것만은 확인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61248" y="3291840"/>
            <a:ext cx="26487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개인정보 노출 없음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 출처 표기 있음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 승인 항목 표시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4982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내가 만든 앱은 내가 가장 먼저 의심해야 합니다.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9808" y="5870448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경계값에서 안 죽는 앱만 부서에 넘깁니다.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세 시간이 끝나면 이 화면이 남습니다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73936"/>
            <a:ext cx="3063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87552" y="2029968"/>
            <a:ext cx="2404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complaint_dashboard.html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487168"/>
            <a:ext cx="24048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 파일 하나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24128" y="3090672"/>
            <a:ext cx="231343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· KPI · 추세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등급 · 조치 권고</a:t>
            </a:r>
            <a:endParaRPr lang="en-US" sz="16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Audit 계산식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431596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4590288"/>
            <a:ext cx="24048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CSV만 갈아 끼운다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35586" y="1773936"/>
            <a:ext cx="6637053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pic>
        <p:nvPicPr>
          <p:cNvPr id="14" name="Image 0" descr="fig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586" y="1773936"/>
            <a:ext cx="6637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달에는 파일명만 바꾸면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16291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04088" y="1920240"/>
            <a:ext cx="153771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품질검사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24100" y="2487168"/>
            <a:ext cx="128016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8692" y="1920240"/>
            <a:ext cx="16291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34412" y="1920240"/>
            <a:ext cx="153771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KPI·세그먼트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54424" y="2487168"/>
            <a:ext cx="128016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19016" y="1920240"/>
            <a:ext cx="16291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64736" y="1920240"/>
            <a:ext cx="153771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후보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4748" y="2487168"/>
            <a:ext cx="128016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49340" y="1920240"/>
            <a:ext cx="16291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95060" y="1920240"/>
            <a:ext cx="153771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예측·차트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15072" y="2487168"/>
            <a:ext cx="128016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979664" y="1920240"/>
            <a:ext cx="162915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25384" y="1920240"/>
            <a:ext cx="153771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1페이지 보고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45396" y="2487168"/>
            <a:ext cx="128016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809988" y="1920240"/>
            <a:ext cx="1629156" cy="1133856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855708" y="1920240"/>
            <a:ext cx="153771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갱신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116836" y="3310128"/>
            <a:ext cx="7863840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8368" y="3456432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04_prompt_templates.csv에 이 순서가 그대로 들어 있습니다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58368" y="4041648"/>
            <a:ext cx="3343656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87552" y="430682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바꾸는 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" y="469087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파일명과 기간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4376928" y="4041648"/>
            <a:ext cx="3343656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706112" y="430682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유지하는 것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6112" y="469087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5요소 구조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8095488" y="4041648"/>
            <a:ext cx="3343656" cy="1316736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424672" y="4306824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확인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24672" y="4690872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질문 두 개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749808" y="554126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프롬프트를 저장하지 않으면 오늘 배운 것은 오늘로 끝납니다.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749808" y="599846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질문 — “이 숫자의 출처와 계산식은?” · “이 결론을 반박할 근거는?”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달에 다시 쓸 수 있으면 기초 과정은 성공입니다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2 종료 체크리스트 · 산출물 13종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산출물 · 4종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분석의 근거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2412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정제본과 품질 로그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요약표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 후보표·예측표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 산출물 · 3종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결정의 문서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4268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발표용 차트 기획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기관장 1페이지 보고서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반박 질문 답변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324612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웹앱 산출물 · 6종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달의 도구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61248" y="3255264"/>
            <a:ext cx="264871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미니 웹앱 5개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대시보드 1개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전부 HTML 한 파일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" y="544982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열세 개 산출물 중 여섯 개는 다음 달에도 그대로 돕니다.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통과 기준 — 숫자 출처 확인 · 추정과 가설 표시 · 개인정보 없음 · 사람 승인 항목 표시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PUBLIC OFFICE · 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기초는 개인 업무 루틴, 중급은 부서 업무 시스템입니다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48463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592824" y="1755648"/>
            <a:ext cx="4846320" cy="36118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BASIC 2 · 오늘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서너 개를 다룬다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40965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 업로드와 대화형 분석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실습마다 미니 웹앱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개인이 반복하는 루틴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406908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434340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· 개인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22008" y="2011680"/>
            <a:ext cx="4187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INTERMEDIATE 3H · 다음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22008" y="246888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 전체를 맡긴다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58584" y="3072384"/>
            <a:ext cx="40965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폴더를 통째로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200건·CCTV·예산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정제·분류·지도화·정책화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22008" y="4069080"/>
            <a:ext cx="4187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22008" y="4343400"/>
            <a:ext cx="418795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 · 부서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9808" y="554126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만든 프롬프트와 앱이 그대로 중급의 입력이 됩니다.</a:t>
            </a:r>
            <a:endParaRPr lang="en-US" sz="2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3444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AI에게 답을 묻지 않습니다.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2039112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흐름을 설계합니다.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843784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그리고 화면으로 남깁니다.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10469880" cy="0"/>
          </a:xfrm>
          <a:prstGeom prst="line">
            <a:avLst/>
          </a:prstGeom>
          <a:noFill/>
          <a:ln w="1270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431596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지저분한 민원 파일 하나에서</a:t>
            </a:r>
            <a:endParaRPr lang="en-US" sz="24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달에도 도는 업무 루틴으로.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416052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0" y="49377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기초 2 · 데이터 3시간 · 실습 5 + 웹앱 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5303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시간 — 중급 3시간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5833872"/>
            <a:ext cx="10597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A9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 · 원본 보존 · 개인정보 보호 · 숫자 재검산 · 사실과 가설 분리 · 사람 승인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 클로드로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· VLOOKUP · 차트를 문장으로. 그리고 그 전부를 대시보드 하나로.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앞에서 본 도구 선택에 이어, 기능 하나하나를 문장으로 옮깁니다.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35608" y="2505456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78608" y="210312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대응표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9088" y="210312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· VLOOKUP · 조건 집계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250545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그대로 복사해 쓰는 문장 13개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295351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8368" y="2999232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35608" y="3401568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578608" y="299923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19088" y="299923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보여줄지부터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40156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고르기 · 프롬프트 5요소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384962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8368" y="3895344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435608" y="4297680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578608" y="3895344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함정과 균형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19088" y="389534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막히는 곳 · 엑셀의 자리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19088" y="42976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깨짐 · 인코딩 · 검산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" y="47457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8368" y="4791456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435608" y="5193792"/>
            <a:ext cx="822960" cy="0"/>
          </a:xfrm>
          <a:prstGeom prst="line">
            <a:avLst/>
          </a:prstGeom>
          <a:noFill/>
          <a:ln w="31750">
            <a:solidFill>
              <a:srgbClr val="B7F34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78608" y="4791456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대시보드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19088" y="479145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여섯 개로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9088" y="519379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정제부터 검산까지 한 번에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844253" y="5705856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8368" y="5852160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엑셀을 버리는 것이 아니라, 반복되는 부분만 넘기는 것입니다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기능을 문장으로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마우스로 하던 조작마다, 대신 하는 말이 있다.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피벗테이블 — 묶어서 집계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 가장 많이 쓰는 기능이자, 문장으로 바꾸기 가장 쉬운 기능입니다.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19072"/>
            <a:ext cx="4480560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958584" y="1719072"/>
            <a:ext cx="4480560" cy="371246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87552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 칸에 끌어다 놓기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4128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 — 묶을 기준 (행정동)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열 — 둘째 기준 (민원유형)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값 — 계산할 숫자 (처리일수)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7552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 하나 · 만든 과정은 안 남음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7768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문장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24344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“행정동별로 묶어서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건수와 평균 처리일수를 표로,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건수 많은 순으로 정렬해줘”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87768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87768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 + CSV + 계산식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22976" y="3575304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561441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교차표가 필요하면 — “행에 행정동, 열에 민원유형을 놓고 평균 처리일수로”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9808" y="605332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엑셀 피벗은 값을 바꾸면 새로고침해야 하지만, 문장은 파일만 바꿔 다시 말하면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VLOOKUP — 다른 표에서 값 붙이기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실무에서 가장 자주 깨지는 수식이자, 문장으로 바꾸면 오히려 안전해지는 기능입니다.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19072"/>
            <a:ext cx="4480560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958584" y="1719072"/>
            <a:ext cx="4480560" cy="371246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87552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수식이 깨지는 자리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4128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범위를 안 고정하면 밀린다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#N/A를 따로 세야 한다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공백 한 칸에 실패한다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7552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맞는지 눈으로 확인해야 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7768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찾기 + 검증을 한 번에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24344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“부서코드에 부서목록의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부서명을 붙여줘.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못 찾은 건 따로 보여줘”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87768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87768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병합본 + 미매칭 목록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22976" y="3575304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561441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“못 찾은 건 따로 보여줘” — 이 한마디가 #N/A를 세는 일을 대신합니다.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나머지 기능도 문장이 정해져 있습니다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집계와 정제 — 실습 1·2에서 그대로 씁니다.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04488" y="201168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 이렇게 말한다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79408" y="2011680"/>
            <a:ext cx="245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4688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COUNTIF·SUMIF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904488" y="24688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접수채널이 국민신문고인 건수와 평균 만족도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979408" y="24688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 + 계산식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32369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33832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필터·정렬 Filter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904488" y="33832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처리일수가 평균의 1.5배를 넘는 건만 CSV로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979408" y="33832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41513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42976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 Remove Dup.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904488" y="42976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완전히 같은 행을 세고 지운 전후 행수를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79408" y="42976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제거 근거표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5065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52120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찾기·바꾸기 Find&amp;Replace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3904488" y="52120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뜻 다른 표기를 목록으로 먼저 보여줘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979408" y="52120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이력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9801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“먼저 보여줘”를 붙이면 승인 뒤에 바꿉니다. 원본을 지키는 습관입니다.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나머지 기능도 문장이 정해져 있습니다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점검과 분류 — 실습 3에서 그대로 씁니다.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04488" y="201168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 이렇게 말한다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79408" y="2011680"/>
            <a:ext cx="24597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4688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텍스트 나누기 Text to Col.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04488" y="24688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주소에서 행정동만 떼어 새 컬럼으로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79408" y="24688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32369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33832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유효성 Validation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904488" y="33832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처리일수가 음수이거나 365를 넘는 행을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79408" y="33832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 목록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41513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42976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IF 중첩 Nested IF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904488" y="42976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‘종량제·꽁초’가 있으면 일반생활폐기물로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979408" y="42976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분류본 + 보류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5065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521208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조건부 서식 Cond. Format.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3904488" y="52120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평균보다 1.5배 느린 행정동을 빨강으로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79408" y="521208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화면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9801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수식 채우기(드래그)는 대응이 없습니다. 규칙을 한 번 말하면 794행 전체에 적용됩니다.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엑셀에는 없는 두 마디가 실무에서 더 자주 쓰입니다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표를 만드는 것보다, 표를 믿을 수 있게 만드는 말입니다.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5116068" cy="29260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359152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물어보기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컬럼이 뭘 뜻하는지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값을 보고 추측해줘”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552" y="4498848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인수인계 없이 받은 파일 앞에서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3076" y="2103120"/>
            <a:ext cx="5116068" cy="29260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52260" y="2359152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되짚기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52260" y="2743200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숫자가 어떻게 나온 건지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원본에서 다시 세어줘”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52260" y="4498848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 직전 검산 · 가장 강력한 한마디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557784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물어볼 수 없습니다. 이 차이가 결재 속도를 바꿉니다.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종류를 고르는 게 아니라, 무엇을 보여줄지를 말한다.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왼쪽 칸을 먼저 고르면 차트는 따라옵니다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범위 → 차트 종류 순서지만, 클로드는 반대입니다.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8366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보여줄 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61488" y="1883664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93208" y="1883664"/>
            <a:ext cx="6345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말한다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34086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흐름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761488" y="2340864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선그래프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93208" y="2340864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월별 총민원 추이를. 평균은 회색 점선으로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90779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305409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 비교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761488" y="3054096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가로막대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3054096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행정동별 평균 처리일수를 큰 순서대로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62102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376732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구성비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761488" y="376732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 누적막대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93208" y="3767328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행정동별 접수채널 구성비를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3342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448056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퍼짐 정도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761488" y="448056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히스토그램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93208" y="4480560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 분포를. 극단값도 같이 봐줘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04748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8368" y="519379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값의 관계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761488" y="5193792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산점도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93208" y="5193792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처리일수와 만족도 관계를. 이름도 붙여서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57607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49808" y="599846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파이는 항목이 5개를 넘으면 못 읽습니다. 보고서의 파이는 대부분 가로막대가 낫습니다.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 프롬프트에 반드시 넣을 다섯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하나만 빠져도 다시 그리게 됩니다. 특히 세 번째.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193669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파일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컬럼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69387" y="2103120"/>
            <a:ext cx="193669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198571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98571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차트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80406" y="2103120"/>
            <a:ext cx="1936699" cy="256032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09590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핵심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09590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폰트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지정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91426" y="2103120"/>
            <a:ext cx="193669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620610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20610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 · 축</a:t>
            </a:r>
            <a:endParaRPr lang="en-US" sz="1950" dirty="0"/>
          </a:p>
          <a:p>
            <a:pPr marL="0" indent="0">
              <a:buNone/>
            </a:pPr>
            <a:r>
              <a:rPr lang="en-US" sz="1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단위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02445" y="2103120"/>
            <a:ext cx="193669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831629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31629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 형식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" y="5230368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폰트를 안 적으면 한글이 □□□로 나옵니다. 가장 흔한 실패입니다.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" y="587044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“한글 폰트는 맑은 고딕, 없으면 NanumGothic으로 지정해줘” — 이 한 줄이면 끝납니다.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CHART PROMPT · 그대로 복사해 씁니다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완성 프롬프트 — 파일명과 컬럼만 바꾸면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03_complaints_monthly.csv 12행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monthly_trend.png 1200×600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[데이터]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03_complaints_monthly.csv의 월 · 총민원 컬럼을 쓴다.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42468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488692"/>
            <a:ext cx="10085832" cy="118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[차트]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월별 총민원 건수 추이를 선그래프로 그린다. 12개월 전체 평균을 회색 점선으로 함께 긋고, 가장 높은 달에만 값을 표시한다.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366217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26180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[폰트]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한글이 깨지지 않게 맑은 고딕(없으면 NanumGothic)으로 지정한다.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32206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86072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[라벨]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제목은 ‘2026년 월별 민원 접수’, y축 이름은 ‘건수’로 한다.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[저장]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PNG 1200×600, 150dpi로 monthly_trend.png에 저장한다.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다섯 줄의 순서는 바꿔도 됩니다. 다만 다섯 가지가 다 있어야 한 번에 나옵니다.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그래프를 받는 방법이 셋입니다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어디에 쓸 것인지에 따라 달라집니다.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31059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이미지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450592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8096" y="3255264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보고서·기안문에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" y="4059936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붙일 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92296" y="3483864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95800" y="1883664"/>
            <a:ext cx="3105912" cy="320040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95800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웹 화면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5528" y="2450592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 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05528" y="3255264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조건을 바꿔가며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05528" y="4059936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볼 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29728" y="3483864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333232" y="1883664"/>
            <a:ext cx="31059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33232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엑셀 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2960" y="2450592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xlsx 차트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42960" y="3255264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결재라인이 원본을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42960" y="4059936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요구할 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" y="543153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“결과를 차트가 들어간 엑셀 파일로 만들어줘” — 셋째도 한 문장입니다.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실습에서 만드는 대시보드가 ②입니다. 파일 하나로 돌고 인터넷이 필요 없습니다.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막히는 곳과 엑셀의 자리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미리 알면 30분을 아낀다. 그리고 엑셀을 언제 남길지도 정해 둔다.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여기서 자주 막힙니다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여섯 가지 모두 한 문장으로 풀립니다.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8366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93008" y="188366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19088" y="1883664"/>
            <a:ext cx="5020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말한다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340864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한글이 □□□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93008" y="234086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폰트 미지정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19088" y="2340864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폰트를 찾아서 적용해줘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90779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3054096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글자가 깨진 CSV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493008" y="305409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CP949 인코딩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19088" y="3054096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UTF-8로 다시 저장부터 해줘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62102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3767328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합계가 엑셀과 다름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493008" y="376732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 값·오류 행 제외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19088" y="3767328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몇 행을 제외했는지 알려줘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3342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448056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숫자가 계산 안 됨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493008" y="448056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 단위 콤마·공백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19088" y="4480560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숫자로 바꾸고 실패한 값은 목록으로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04748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8368" y="519379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파일이 너무 큼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493008" y="519379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전국 단위 수십만 행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19088" y="5193792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관할과 기간으로 먼저 잘라줘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57607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49808" y="599846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결과를 못 믿겠을 때 — “원본에서 다시 세어 검산표를 만들어줘”가 가장 강력합니다.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엑셀이 여전히 나은 세 경우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대체가 아니라 분업입니다.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20행짜리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즉석 계산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7552" y="44074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설명하는 시간이 더 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남이 셀을 직접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고쳐야 하는 양식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06112" y="44074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 취합 서식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283464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결재라인이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원본 요구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24672" y="44074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xlsx로 내보내면 해결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반복되는 정제·집계·차트는 클로드가, 마지막 사람 손은 엑셀이 맡습니다.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실습이 곧 이 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 배우는 게 아니라, 하던 일을 다른 방식으로 하는 것입니다.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4708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93008" y="184708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하는 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99248" y="1847088"/>
            <a:ext cx="3739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엑셀로 치면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30428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· 품질검사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93008" y="2304288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중복·결측·표기 흔들림 잡기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99248" y="2304288"/>
            <a:ext cx="3739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 + 찾기·바꾸기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83464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8368" y="2980944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· KPI · 세그먼트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493008" y="2980944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행정동·유형별 비교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99248" y="2980944"/>
            <a:ext cx="3739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피벗테이블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51129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" y="3657600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· 원인 후보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493008" y="3657600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느린 곳을 찾아 강조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699248" y="3657600"/>
            <a:ext cx="3739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+ 조건부 서식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18795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" y="4334256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· 예측 · 시각화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493008" y="4334256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추이 그리기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99248" y="4334256"/>
            <a:ext cx="3739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486460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8368" y="5010912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· 1페이지 보고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493008" y="5010912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숫자를 문장으로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7699248" y="5010912"/>
            <a:ext cx="3739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엑셀에는 없는 단계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58368" y="554126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844253" y="5632704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8368" y="5779008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다섯 번째 칸이 오늘 배우는 것의 전부입니다</a:t>
            </a:r>
            <a:endParaRPr lang="en-US" sz="2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— 대시보드 하나로 합치기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앞의 기능들을 순서대로 쌓으면, 매달 쓰는 화면 하나가 남는다.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여섯 개면 대시보드가 나옵니다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01_complaints_raw.csv 794행 → complaint_dashboard.html 한 파일까지.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4708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75688" y="1847088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말한다 (요지)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10528" y="184708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엑셀로 치면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08008" y="1847088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30428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파악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075688" y="230428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헤더와 첫 5행부터 보여줘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10528" y="2304288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훑기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08008" y="230428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 점검표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" y="2779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" y="29260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정제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075688" y="2926080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중복과 표기 차이를 먼저 보여줘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10528" y="292608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중복·표기 정리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08008" y="2926080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 CSV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8368" y="354787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집계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075688" y="3547872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행정동별로 묶어 KPI를 내줘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10528" y="35478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피벗테이블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08008" y="3547872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· 세그먼트 표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658368" y="402336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8368" y="416966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생성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075688" y="4169664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화면을 HTML 한 파일로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510528" y="416966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엑셀에는 없음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208008" y="4169664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1차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58368" y="464515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8368" y="479145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개선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2075688" y="4791456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추이 그래프와 강조를 붙여줘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10528" y="4791456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· 조건부 서식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208008" y="4791456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2차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58368" y="526694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8368" y="541324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⑥ 검증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2075688" y="541324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원본에서 다시 세어 검산표를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510528" y="5413248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엑셀에는 없음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208008" y="541324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검산표 · README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658368" y="58887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49808" y="587044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④와 ⑥이 엑셀에 대응이 없습니다. 그 둘이 이 작업을 “다음 달에도 쓰는 것”으로 만듭니다.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1 · 파악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— 고치기 전에 파일이 어떤 상태인지부터 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01_complaints_raw.csv 794행 × 14열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 점검표 (표 2개)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민원 데이터를 다루는 담당자다. 원본 파일은 어떤 경우에도 수정하지 않는다.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42468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488692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폴더에 01_complaints_raw.csv 하나가 있다. 컬럼 구성과 값의 상태를 아직 모른다.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308457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148584"/>
            <a:ext cx="10085832" cy="118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헤더와 첫 5행을 그대로 출력하라. 글자가 깨지면 인코딩을 바꿔 다시 읽어라. ② 컬럼마다 결측 수·고유값 수·값 예시 3개를 표로 정리하라. ③ 숫자여야 하는데 문자로 읽힌 컬럼을 지적하라.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32206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86072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 두 개 — 헤더 미리보기, 컬럼 점검표.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49819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045964"/>
            <a:ext cx="10085832" cy="6050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아직 아무것도 고치지 마라. 판단이 애매하면 임의로 정하지 말고 되물어라.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엑셀로 치면 파일을 열어 훑는 단계입니다. 여기를 건너뛰면 뒤에서 반드시 되돌아옵니다.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2 · 정제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— 무엇을 지울지 먼저 보여 달라고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794행 + 컬럼 점검표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 748행 + 제거 근거표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데이터 정제 담당자다. 지운 것은 모두 근거를 남긴다.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34217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406178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 점검이 끝났다. 중복·표기 흔들림·범위를 벗어난 값이 섞여 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91954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983557"/>
            <a:ext cx="10085832" cy="15126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완전히 같은 행과 민원ID만 다른 행을 각각 세어 보고하라. ② ‘국민 신문고’처럼 같은 뜻 다른 표기를 목록으로 먼저 보여줘라. ③ 처리일수 음수·365 초과, 만족도 1~5 밖을 찾아라. ④ 내가 승인하면 clean 폴더에 정제본으로 저장하라.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48709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551099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전후 행수 + 항목별 제거 근거표.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06447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128478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원본은 수정하지 않는다. 지운 행은 행번호와 이유를 남긴다. 연락처는 마스킹한다.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“먼저 보여줘 → 승인 → 저장”. 이 세 박자가 원본을 지키는 습관입니다.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3 · 집계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— 피벗을 문장으로 시키는 자리입니다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 748행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표 1개 + 세그먼트 표 3개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민원 현황을 숫자로 정리해 팀장 보고에 올리는 담당자다.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34217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406178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정제본이 준비됐다. 회의에서 바로 쓸 지표와 비교표가 필요하다.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91954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983557"/>
            <a:ext cx="10085832" cy="15126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전체 KPI 다섯 개 — 총건수·완료율·평균 처리일수·재민원율·평균 만족도. ② 행정동별·민원유형별·접수채널별 건수와 평균 처리일수를 표로 만들어라. ③ 전체 평균의 1.5배보다 느린 집단을 표시하라.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48709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551099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표 1개 + 세그먼트 표 3개. 숫자마다 제외한 행 수를 함께 적는다.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06447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128478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표본이 20건 미만인 집단은 순위에서 빼고 따로 표시한다.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마지막 줄이 핵심입니다. 표본이 작은 집단이 1위로 올라오는 사고를 미리 막습니다.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4 · 생성 (PRD)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— 이 한 장으로 대시보드가 만들어집니다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확정된 규칙과 집계표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complaint_dashboard.html 1차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사내용 대시보드를 만드는 개발 파트너다. 외부 라이브러리 없이 HTML 한 파일로 만든다.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342170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406178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사용자는 민원 담당자다. 매달 CSV를 올려 현황을 확인하고, 회의에서 그 화면을 띄운다.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919549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983557"/>
            <a:ext cx="10085832" cy="15126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화면을 다섯 영역으로 만든다. 1) 적재 — CSV를 올리면 헤더를 읽어 자동 매핑하고 드롭다운으로 고칠 수 있게. 2) 정제 스트립 — 제거한 행수와 이유를 한 줄로. 3) KPI 다섯 칸. 4) 비교 — 기준(행정동·유형·채널)을 바꾸면 즉시 다시 그린다. 5) Audit — 숫자마다 계산식과 원천을 펼쳐 본다.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487091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551099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HTML 파일. 파일명은 complaint_dashboard.html.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064470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128478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서버로 보내지 않는다. 연락처는 화면에서도 마스킹한다. 인터넷 없이 열려야 한다.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여기서부터가 엑셀에 대응이 없는 구간입니다. 요구사항을 쓰는 만큼 결과가 나옵니다.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네 개 뒤에 이 화면이 나옵니다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산출물 · 파일 하나 · 외부 라이브러리 0개 · 인터넷 불필요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21408"/>
            <a:ext cx="3154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2377440"/>
            <a:ext cx="2496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화면에서 읽는 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834640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3438144"/>
            <a:ext cx="240487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한 문장 결론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정제 근거·KPI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추이와 비교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4480560"/>
            <a:ext cx="249631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794행 → 정제본 748행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73295" y="2121408"/>
            <a:ext cx="585307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pic>
        <p:nvPicPr>
          <p:cNvPr id="14" name="Image 0" descr="fig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295" y="2121408"/>
            <a:ext cx="5853074" cy="33832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9808" y="561441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정제 스트립(원본 794행 → 정제본 748행)이 화면에 남아 있는 것이 이 대시보드의 특징입니다.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5 · 개선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— 한 번에 하나씩만 붙입니다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1차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2차 (추이·강조·내보내기)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893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방금 만든 앱을 함께 개선하는 파트너다. 하나를 끝내고 화면이 깨지지 않았는지 확인한 뒤 다음으로 간다.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71348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777490"/>
            <a:ext cx="10085832" cy="460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앱이 동작한다. 회의에서 쓰려면 추이와 강조가 필요하다.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3228975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292983"/>
            <a:ext cx="10085832" cy="13270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월별 추이 선그래프를 넣어라. 전체 평균을 회색 점선으로 함께 긋는다. ② 전체 평균의 1.5배를 넘는 행을 빨강으로 칠하고, 기준값은 화면에서 바꿀 수 있게 한다. ③ 지금 보이는 표를 CSV로 내보내는 버튼을 넣어라.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61086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674870"/>
            <a:ext cx="10085832" cy="460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번에 하나씩. 매번 무엇이 바뀌었는지 한 줄로 알려준다.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126355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190363"/>
            <a:ext cx="10085832" cy="460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라이브러리를 추가하지 않는다. 차트는 SVG로 직접 그린다.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셋을 한 번에 시키면 앱이 통째로 깨지고 복구에 10분을 씁니다. 한 번에 하나.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6 · 검증과 인계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 — 화면의 숫자를 원본에서 다시 셉니다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 </a:t>
            </a:r>
            <a:r>
              <a:rPr lang="en-US" sz="1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2차 + 원본 CSV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→    </a:t>
            </a: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  </a:t>
            </a: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검산표 + README.md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078077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1828800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배포 전 숫자를 검증하는 감사 담당자이자, 다음 달 담당자에게 넘길 문서를 쓰는 사람이다.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34217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2406178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앱이 완성됐다. 화면의 숫자가 원본과 맞는지 아직 확인하지 않았다.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91954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983557"/>
            <a:ext cx="10085832" cy="15126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화면의 KPI 다섯 개를 원본 CSV에서 다시 계산해 검산표를 만들어라. 다르면 원인을 적어라. ② 정제 규칙·판정 기준·제외 행 수를 README 한 장으로 정리하라. ③ 다음 달 실행 절차를 세 줄로 적어라.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4487091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551099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검산표 + README.md.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5064470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5128478"/>
            <a:ext cx="10085832" cy="522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숫자가 다르면 앱을 고치기 전에 원인부터 보고한다.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598017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이 단계를 넣는 순간 결과물이 “내가 만든 것”에서 “남에게 넘길 수 있는 것”이 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작업이 값어치를 하는 건 다음 달입니다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여섯 개는 파일에 남습니다. 다시 쓰면 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310591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8368" y="2139696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487168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90분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8096" y="3261360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여섯 단계를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" y="4035552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92296" y="3474720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95800" y="1920240"/>
            <a:ext cx="310591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95800" y="2139696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5528" y="2487168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5분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05528" y="3261360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CSV를 넣고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05528" y="4035552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프롬프트로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29728" y="3474720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333232" y="1920240"/>
            <a:ext cx="3105912" cy="310896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33232" y="2139696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담당자가 바뀌면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2960" y="2487168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README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442960" y="3261360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규칙과 절차가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42960" y="4035552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글로 남아 있다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" y="535838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결과만 넘겨줍니다. 이쪽은 만드는 방법을 넘겨줍니다.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그래서 첫 달에 90분을 쓰는 것이 아깝지 않습니다. 두 번째 달부터가 이익입니다.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 · EXCEL → CLAUDE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결국 다섯 문장이 대시보드 하나가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앞에서 본 엑셀 기능들이 어디에 들어갔는지 확인하고 마칩니다.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190012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4088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찾기·바꾸기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595067" y="281178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878531" y="2103120"/>
            <a:ext cx="190012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24251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피벗테이블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15230" y="281178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98694" y="2103120"/>
            <a:ext cx="190012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44414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조건부 서식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035394" y="281178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8858" y="2103120"/>
            <a:ext cx="190012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64578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255557" y="281178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539021" y="2103120"/>
            <a:ext cx="1900123" cy="141732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584741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8368" y="3840480"/>
            <a:ext cx="51160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87552" y="4096512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바뀌지 않은 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4480560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볼지 정하는 일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87552" y="5047488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기준·임계값·제외 규칙은 여전히 사람이 정한다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3076" y="3840480"/>
            <a:ext cx="5116068" cy="173736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652260" y="4096512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바뀐 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52260" y="4480560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만드는 과정이 남는다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652260" y="5047488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· 정제 규칙 · 검산표 · README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" y="581558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판단은 그대로 담당자의 몫입니다. 손이 하던 부분만 넘어갔습니다.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3444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기능을 배우는 게 아닙니다.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2039112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원하는지 말하는 겁니다.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843784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그대로 두셔도 됩니다.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10469880" cy="0"/>
          </a:xfrm>
          <a:prstGeom prst="line">
            <a:avLst/>
          </a:prstGeom>
          <a:noFill/>
          <a:ln w="12700">
            <a:solidFill>
              <a:srgbClr val="0B6B6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431596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· VLOOKUP · 차트</a:t>
            </a:r>
            <a:endParaRPr lang="en-US" sz="24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대시보드 하나로.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416052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0" y="49377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대응표 13개 · 차트 6종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5303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프롬프트 6개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5833872"/>
            <a:ext cx="10597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A9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 · 참고자료 · 예시는 실습 데이터(01_complaints_raw.csv) 기준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7941</Words>
  <Application>Microsoft Office PowerPoint</Application>
  <PresentationFormat>와이드스크린</PresentationFormat>
  <Paragraphs>1241</Paragraphs>
  <Slides>71</Slides>
  <Notes>71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74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哥 大</cp:lastModifiedBy>
  <cp:revision>1</cp:revision>
  <dcterms:created xsi:type="dcterms:W3CDTF">2026-09-05T04:06:00Z</dcterms:created>
  <dcterms:modified xsi:type="dcterms:W3CDTF">2026-09-05T04:17:24Z</dcterms:modified>
</cp:coreProperties>
</file>