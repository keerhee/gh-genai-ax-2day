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세 도구 답변이 얼마나 다른지 비교표 서식을 화이트보드에 미리 그려두면 진행이 빠릅니다.
학습 목표: 도구마다 답이 다름을 확인하고 상황별 도구 감각을 만든다
공공 실무 맥락: 제도가 바뀌면 기관장은 '우리 업무에 뭐가 달라지나'부터 묻습니다. 답이 늦으면 예산에서 밀립니다.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참가자 대부분이 [맥락]과 [제약]을 가장 어려워합니다. "가설/확정 구분"을 반복해서 강조하세요.
학습 목표: "민원 답변 써줘"를 5요소로 다시 쓰고 전/후를 나란히 비교한다
공공 실무 맥락: 원인 확정 전 보고는 사실과 가설을 구분합니다. 성급한 업체 지목은 계약·감사에 바로 영향을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(C) 주민 안내문에서 행정용어를 그대로 옮기는 경우가 많음 — 첨부02를 반드시 함께 업로드하도록 안내.
학습 목표: 같은 사실을 기관장·실무·주민용 3가지 톤으로 다시 쓴다
공공 실무 맥락: 기관장은 결론만, 실무는 담당·기한, 주민은 '내게 뭐가 달라지나' — 문서 3개가 따로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참가자가 "다음 조치"를 뭉뚱그리기 쉬움. "누가·무엇을·언제까지"가 반드시 다 있는지 체크.
학습 목표: 회의 메모를 기관장이 1분 안에 결정할 1페이지로 바꾼다
공공 실무 맥락: 간부회의는 여러 부서 보고를 30분에 소화합니다. '결정 요청' 없는 보고서는 시간 낭비입니다.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실습 4의 산출물이 있어야 진행됨. 앞 실습이 완결되지 않은 참가자는 다른 팀 결과를 공유하거나 예시로 실습.
학습 목표: 방금 만든 AI 산출물을 5기준으로 다시 훑는 검증 습관을 만든다
공공 실무 맥락: 수치 하나 틀리면 다음 예산·인력 결정이 틀어집니다. AI를 그대로 쓰지 않는 것이 첫걸음입니다.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ChatGPT Custom GPT / Claude Projects 만들기 데모를 5분 정도 보여주면 참가자 이해도가 크게 올라감.
학습 목표: 오늘의 규칙을 굳혀 내일 업무에도 쓸 내 전용 비서를 만든다
공공 실무 맥락: 부서마다 반복 업무가 다릅니다. 내 부서의 반복 업무에 특화되어야 비서의 재사용 가치가 생깁니다.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</a:t>
            </a:r>
            <a:endParaRPr lang="en-US" sz="4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 · 문서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3시간 · 실습 6개로 AI를 간부회의에 가져갈 도구로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3시간 · 도구 비교 · 프롬프트 · 업무문서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385048" y="96012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 메모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48" y="154403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5048" y="212793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5요소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48" y="271184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85048" y="329575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5기준 검증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5048" y="387966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85048" y="4463578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보고서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기초 1 ·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'해 보고 싶은 기술'이 아니라 '결재에 올릴 도구'로 만듭니다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4480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58584" y="1783080"/>
            <a:ext cx="4480560" cy="35204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203911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· 대부분의 기관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49631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"써 봤는데 업무엔 못 쓴다"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3099816"/>
            <a:ext cx="373075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문서엔 안 붙는다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결재에 못 올린다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지침, 어디까지?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42793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구경거리로 남는다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87768" y="203911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3시간 뒤 · 이 과정의 약속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87768" y="249631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6개가 손에 남는다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24344" y="3099816"/>
            <a:ext cx="373075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 메모 → 보고서 1장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"써줘" → 5요소 프롬프트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 → 내 전용 AI 비서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87768" y="42793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6개 · 프롬프트 6개 · 데이터 2개 · 검증 5기준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38928" y="3067812"/>
            <a:ext cx="1819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6개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22976" y="3543300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544068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프롬프트는 5요소 구조로 정형화되어 내일 업무에 그대로 재사용됩니다.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9808" y="586130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시나리오는 공공기관의 실제 업무 — 남의 이야기가 아닙니다.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기초 1 ·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3시간 여정 — 도구 감각에서 내 전용 AI 비서까지 실습마다 산출물 1개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334365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89280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 · 0:00~0:20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2768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비교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7552" y="2788920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도구 답변 비교표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6928" y="1755648"/>
            <a:ext cx="334365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06112" y="189280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2 · 0:20~0:50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6112" y="22768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개선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06112" y="2788920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전/후 프롬프트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5488" y="1755648"/>
            <a:ext cx="334365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24672" y="189280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3 · 0:50~1:20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24672" y="22768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용도별 변환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424672" y="2788920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기관장·실무·주민용 3종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3401568"/>
            <a:ext cx="334365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87552" y="353872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4 · 1:20~1:50 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392277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1페이지 보고서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987552" y="4434840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산출물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76928" y="3401568"/>
            <a:ext cx="334365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06112" y="353872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5 · 1:50~2:20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6112" y="392277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결과 검증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706112" y="4434840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5기준 검토표 + 수정본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95488" y="3401568"/>
            <a:ext cx="3343656" cy="1481328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24672" y="353872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6 · 2:20~3:00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24672" y="392277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AI 업무비서 설계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424672" y="4434840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재사용 비서 프롬프트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" y="4956048"/>
            <a:ext cx="10780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카드 아래 줄 = 그 실습의 산출물 · 공통 템플릿 3종 — 1페이지 보고서 · AI 산출물 검토표 · 재검증 프롬프트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44253" y="5468112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" y="5614416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원칙 · ① 프롬프트 입력 → ② 결과 확인 → ③ 검증·개선 → ④ 산출물 저장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49808" y="608990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모든 실습 데이터는 교육용 가상(합성) 자료 — 실제 민원·내부 문서는 사용 금지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기초 1 ·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이미 옆자리 동료의 도구입니다 — 국내 공공부문 현황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3436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 본청 · 2025.12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10명 중 6명이 씁니다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24128" y="2935224"/>
            <a:ext cx="2648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3~4h → 1h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자료조사 → 30분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만족 89%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4398264"/>
            <a:ext cx="2685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63% 활용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76928" y="1783080"/>
            <a:ext cx="33436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611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경기도청 · 2025.11 도입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611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달에 질문 8천 건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42688" y="2935224"/>
            <a:ext cx="2648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보도자료 초안 5초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회의록·법령 검색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국내 5개 모델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6112" y="4398264"/>
            <a:ext cx="2685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5,000명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95488" y="1783080"/>
            <a:ext cx="3343656" cy="32918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행정안전부 · 2026.9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공무원이 직접 만든다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1248" y="2935224"/>
            <a:ext cx="2648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770개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챔피언 2만 명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적극행정 면책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24672" y="4398264"/>
            <a:ext cx="2685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2,073명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쓰는 사람은 이미 많습니다. 차이는 '정확히 시키고 검증하는가'에서 벌어집니다.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749808" y="594360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출처 · 서울시 보도자료 2026.1(응답 6,318명) · 경기도·YTN 2025.12 · 행정안전부 국무회의 보고 2026.9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기초 1 ·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검증된 효과는 '작고 반복되는 일'에서 나옵니다 — 해외 정부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3436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영국 · Humphrey Consult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사람과 거의 같은 순위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24128" y="2935224"/>
            <a:ext cx="2648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의견 2,000건 분석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 7.5만 인일 절감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 £20M/년 추정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4398264"/>
            <a:ext cx="2685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1,000배 빠름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76928" y="1783080"/>
            <a:ext cx="33436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611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영국 노동연금부 · Copilot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611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통제집단 대비 절감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42688" y="2935224"/>
            <a:ext cx="2648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3,549명 · 6개월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 검색 26분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회의록 요약 9분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6112" y="4398264"/>
            <a:ext cx="2685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19분/일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95488" y="1783080"/>
            <a:ext cx="3343656" cy="32918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싱가포르 GovTech · Pair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공무원 1/3이 매일 쓴다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61248" y="2935224"/>
            <a:ext cx="2648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2년 새 이용 2배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정부 직접 운영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파생 챗봇 수천 개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24672" y="4398264"/>
            <a:ext cx="2685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 50,000명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효과는 '보고서 한 편'이 아니라 '매일 반복되는 19분'에서 쌓입니다 — 그래서 이 과정은 반복 업무부터.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" y="594360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DWP 시험은 무작위 배정이 아니었고, 영국 통상산업부 시험은 유의미한 차이가 없었음 — 쓰는 방식이 결과를 가릅니다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기초 1 ·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빨리 쓰기 전에 '어디까지 되는가'를 먼저 정합니다 — 공공의 선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343656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국가정보원 · 2025.12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항목 30개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24128" y="2935224"/>
            <a:ext cx="2648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필터·접근통제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인간 승인 의무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 실태평가 반영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41788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「AI 보안 가이드라인」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6928" y="1783080"/>
            <a:ext cx="3343656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611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개인정보보호위원회 · 2025.8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611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 처리 원칙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42688" y="2935224"/>
            <a:ext cx="2648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단계별 처리 원칙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입력도 제3자 제공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가명처리 후 활용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6112" y="41788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「생성형 AI 개발·활용 개인정보 처리 안내서」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5488" y="1783080"/>
            <a:ext cx="3343656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03911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행정안전부 · DPG · 2024.4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42316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도입 절차 · 체크리스트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461248" y="2935224"/>
            <a:ext cx="2648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유형별 도입 절차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자료 반출 금지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 지침 우선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24672" y="41788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「공공부문 초거대 AI 도입·활용 가이드라인」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791456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과정의 4가지 선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5029200"/>
            <a:ext cx="2503170" cy="384048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5029200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데이터 입력 금지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17570" y="5029200"/>
            <a:ext cx="2503170" cy="384048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417570" y="5029200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개인정보는 가명처리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6772" y="5029200"/>
            <a:ext cx="2503170" cy="384048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76772" y="5029200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비공개 문서 외부 금지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35974" y="5029200"/>
            <a:ext cx="2503170" cy="384048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935974" y="5029200"/>
            <a:ext cx="25031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 책임은 작성자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다루는 데이터는 전부 가상입니다. 실제 민원 자료는 오늘 한 줄도 입력하지 않습니다.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49808" y="594360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인터넷망 외부 AI와 기관 내부망 AI는 허용 범위가 다릅니다 — 정보보안 담당 부서 안내가 우선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기초 1 ·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요청도 '말하는 방식'에 따라 결과가 완전히 달라집니다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4480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58584" y="1783080"/>
            <a:ext cx="4480560" cy="35204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203911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 · 뭉뚱그린 요청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49631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"민원 답변 써줘"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24128" y="3099816"/>
            <a:ext cx="373075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독자를 몰라 범용 문장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동·수치 없이 원론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사실과 가설이 뒤섞임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42793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그대로는 결재에 못 올린다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87768" y="203911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 · 5요소로 재작성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87768" y="249631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5요소로 다시 쓴 요청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24344" y="3099816"/>
            <a:ext cx="373075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환경위생과 팀장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민원 18건 → 27건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①현상 ②원인 ③조치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87768" y="42793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숫자는 원문 그대로 · 가설은 가설로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38928" y="3067812"/>
            <a:ext cx="1819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요청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22976" y="3543300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544068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모자란 게 아니라, 우리가 상황을 말해 주지 않은 것입니다.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9808" y="586130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프롬프트는 재능이 아니라 문법입니다 — 다음 장에서 5요소를 정의합니다.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기초 1 ·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5요소는 각각 '없으면 무엇이 무너지는가'로 기억합니다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75564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75688" y="175564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정의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87768" y="1755648"/>
            <a:ext cx="4151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없으면 생기는 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2128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075688" y="2212848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"너는 누구인가" — 직무·판단 기준·업계 감각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87768" y="2212848"/>
            <a:ext cx="4151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누구 관점인지 몰라 범용 문장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8368" y="26517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279806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075688" y="2798064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"지금 상황이 이렇다" — 수치·시점·관련 인물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87768" y="2798064"/>
            <a:ext cx="4151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기관 얘기가 아닌 원론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32369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338328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075688" y="3383280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"무엇을 하라" — 번호로 나눈 단계적 과업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287768" y="3383280"/>
            <a:ext cx="4151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단계를 빠뜨림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" y="38221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8368" y="396849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075688" y="3968496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"이렇게 출력하라" — 표·불릿·분량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87768" y="3968496"/>
            <a:ext cx="4151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붙여 넣을 수 없는 산문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8368" y="44074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8368" y="455371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2075688" y="4553712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"이건 하지 말라" — 지어내기·단정 금지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87768" y="4553712"/>
            <a:ext cx="4151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환각이 확정 사실처럼 보임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8368" y="49926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844253" y="553212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58368" y="567842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6개 실습의 프롬프트는 항상 이 순서로 나옵니다 — 순서만 봐도 어느 요소인지 압니다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정돈되지 않은 회의 메모를 기관장 보고용 1페이지로 바꿉니다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3시간 · 실습 6개 · 실습 데이터 2개 — 도구 비교 · 프롬프트 · 업무문서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기초 1 ·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과정의 목표는 '도구를 많이 아는 것'이 아니라 '정확히 시키는 법'입니다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248945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2039112"/>
            <a:ext cx="18310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도구 감각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423160"/>
            <a:ext cx="183108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도구를 고른다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24128" y="2935224"/>
            <a:ext cx="179451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대화형·검색형·문서형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최신성·근거 비교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22142" y="1783080"/>
            <a:ext cx="248945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51326" y="2039112"/>
            <a:ext cx="18310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프롬프트 구조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51326" y="2423160"/>
            <a:ext cx="183108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5요소로 쓴다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787902" y="2935224"/>
            <a:ext cx="179451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역할·맥락·지시·형식·제약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전/후 비교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85916" y="1783080"/>
            <a:ext cx="248945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15100" y="2039112"/>
            <a:ext cx="18310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용도별 변환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5100" y="2423160"/>
            <a:ext cx="183108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독자에 맞춘다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6551676" y="2935224"/>
            <a:ext cx="179451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기관장·실무·주민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사실, 다른 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949690" y="1783080"/>
            <a:ext cx="248945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78874" y="2039112"/>
            <a:ext cx="18310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검증 습관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78874" y="2423160"/>
            <a:ext cx="183108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5기준으로 훑는다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15450" y="2935224"/>
            <a:ext cx="179451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사실·수치·출처·누락·단정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 전 관문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172968" y="4773168"/>
            <a:ext cx="4005072" cy="512064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72968" y="4773168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보고용 1페이지 (실습 4)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34072" y="4773168"/>
            <a:ext cx="4005072" cy="5120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34072" y="4773168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AI 업무비서 프롬프트 (실습 6)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" y="477316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대표 산출물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감각이 있으면 기초 2(데이터 분석·대시보드)와 중급이 모두 확장입니다 — 같은 문법을 씁니다.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기초 1 ·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과정에서 만질 데이터 — 사무실 문서에서 도시의 신호까지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1은 1층(사람이 쓴 글)을 다룹니다. 기초 2·중급으로 갈수록 현장에 가까운 데이터를 다룹니다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103120"/>
            <a:ext cx="334365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228600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1 · 이 과정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67004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 · 정책 정보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87552" y="3182112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메모 · 정책자료 · 보도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76928" y="2103120"/>
            <a:ext cx="334365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6112" y="228600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2 · 기초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6112" y="267004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· 행정 지표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06112" y="3182112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KPI · 동별 현황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5488" y="2103120"/>
            <a:ext cx="3343656" cy="1572768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24672" y="2286000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LAYER 3 · 중급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24672" y="267004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공공데이터 · 현장 로그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424672" y="3182112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 위치 · 센서 로그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" y="3840480"/>
            <a:ext cx="10780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미리 알아두면 기초 2가 쉬워집니다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4096512"/>
            <a:ext cx="10780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공공데이터(Open Data)는 기관이 만들고 관리하는 데이터 가운데 '개방해도 되는 것'입니다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" y="455371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04288" y="4553712"/>
            <a:ext cx="9134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공공데이터법(2013년 시행) — 공공데이터포털 data.go.kr로 개방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" y="488289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04288" y="4882896"/>
            <a:ext cx="9134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건수·처리일수·시설 위치처럼 개인을 알아볼 수 없는 데이터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" y="521208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무엇은 아닌가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304288" y="5212080"/>
            <a:ext cx="9134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민원인 이름·연락처·주소는 개인정보 — 외부 AI 입력 금지, 가명처리 먼저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" y="5504688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형식이 제각각인 데이터에는 AI를 붙일 곳이 없습니다 — 이 과정은 1층, 사람이 쓴 글부터.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49808" y="594360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출처 · 공공데이터법(법률 제11956호) · 공공데이터포털 · 개인정보보호법 제2조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 / 6 · 0:00 ~ 0:20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질문에도 도구마다 답이 다릅니다 — 도구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6675120" cy="411480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883664"/>
            <a:ext cx="6199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· 5-ELEMENT 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" y="2176272"/>
            <a:ext cx="61996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2304288"/>
            <a:ext cx="6199632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기초자치단체 기획예산과 담당자다. 기관장에게 제도 변화의 업무 영향을 5분 안에 설명한다.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「인공지능 기본법」이 2026년 1월 시행됐다. 우리 기관은 민원·복지·시설 업무에 AI를 막 쓰기 시작했다. 같은 질문을 ChatGPT·Gemini·Claude에 넣어 비교하는 중이다.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"AI 기본법 시행이 기초자치단체 업무에 미치는 영향 3가지와 6개월 안에 준비할 일은?" 2) 각 항목을 '무엇이 달라지나 → 지금 할 일' 한 줄로. 3) 가장 시급한 것 하나와 이유 한 문장.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번호 목록 3개 + 마지막 한 줄, 전체 5줄 이내.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일반론이 아니라 기초자치단체 관점. 확인 안 된 조문·수치는 '확인필요'. 세 도구에 같은 문장 그대로 입력.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목표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384962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도구마다 답이 다름을 확인하고 상황별 도구 감각을 만든다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0" y="2706624"/>
            <a:ext cx="3849624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589520" y="2706624"/>
            <a:ext cx="54864" cy="1188720"/>
          </a:xfrm>
          <a:prstGeom prst="rect">
            <a:avLst/>
          </a:prstGeom>
          <a:solidFill>
            <a:srgbClr val="0B6B6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0" y="2779776"/>
            <a:ext cx="3575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실무 맥락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035808"/>
            <a:ext cx="3538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제도가 바뀌면 기관장은 '우리 업무에 뭐가 달라지나'부터 묻습니다. 답이 늦으면 예산에서 밀립니다.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0" y="4023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· 산출물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4297680"/>
            <a:ext cx="38496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옵션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직무 · 주제 콤보 (기본: 기획예산 · AI 기본법)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도구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ChatGPT·Gemini·Claude 동일 입력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도구 답변 비교표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601675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강사 노트 · 세 도구 답변이 얼마나 다른지 비교표 서식을 화이트보드에 미리 그려두면 진행이 빠릅니다.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2 / 6 · 0:20 ~ 0:50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"민원 답변 써줘"를 5요소로 다시 씁니다 — 프롬프트 개선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6675120" cy="411480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883664"/>
            <a:ext cx="6199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· 5-ELEMENT 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" y="2176272"/>
            <a:ext cx="61996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2304288"/>
            <a:ext cx="6199632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구청 환경위생과 팀장이다. 구청장 보고를 자주 쓰며, 원인 확정 전에는 사실과 가설을 구분해 쓴다.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가온동 쓰레기 무단투기 민원이 주 18건 → 27건으로 늘었다. 증가 시점이 수거 위탁업체 교체와 겹친다. 확정된 사실은 이 두 가지뿐.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구청장 보고 '민원 급증 보고서 초안' 작성. 2) ①현상 ②추정원인(가설 3개) ③즉시조치 ④확인 필요. 3) 마지막 줄에 '확정 사실'과 '가설'을 구분.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①~④ 소제목 유지, 각 항목 3줄 이내. 숫자는 그대로(18건 → 27건).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 안 된 원인은 '가설'로 명시, 단정 금지. 자료에 없는 수치 지어내기 금지. 특정 업체 책임 단정 금지.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목표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384962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"민원 답변 써줘"를 5요소로 다시 쓰고 전/후를 나란히 비교한다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0" y="2706624"/>
            <a:ext cx="3849624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589520" y="2706624"/>
            <a:ext cx="54864" cy="1188720"/>
          </a:xfrm>
          <a:prstGeom prst="rect">
            <a:avLst/>
          </a:prstGeom>
          <a:solidFill>
            <a:srgbClr val="0B6B6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0" y="2779776"/>
            <a:ext cx="3575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실무 맥락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035808"/>
            <a:ext cx="3538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확정 전 보고는 사실과 가설을 구분합니다. 성급한 업체 지목은 계약·감사에 바로 영향을 줍니다.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0" y="4023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· 산출물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4297680"/>
            <a:ext cx="38496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옵션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 대상: 구청장/국장/감사 · 상세도: 표준/핵심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도구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1개 고정 — 바꾸면 비교 불가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전/후 결과 나란히 저장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601675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강사 노트 · 참가자 대부분이 [맥락]과 [제약]을 가장 어려워합니다. "가설/확정 구분"을 반복해서 강조하세요.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3 / 6 · 0:50 ~ 1:20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사실을 기관장용·실무용·주민용으로 다시 씁니다 — 용도별 변환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6675120" cy="411480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883664"/>
            <a:ext cx="6199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· 5-ELEMENT 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" y="2176272"/>
            <a:ext cx="61996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2304288"/>
            <a:ext cx="6199632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민원·현장행정 주간회의 서기이자 내부 소통 담당이다. 같은 내용을 읽는 사람에 맞춰 다시 쓴다.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첨부01(회의메모)은 정돈되지 않은 주간회의 메모다. 구청장·실무자·주민이 각각 다르게 읽어야 한다. 용어는 첨부02(용어 브리프)로 푼다.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첨부01에서 사실 항목만 추려라. 2) 3버전 재구성: (A)구청장 보고 (B)실무 공유 (C)주민 안내문. 3) (A)를 가장 공들여 쓰고, 공통 강조 항목을 한 줄로.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(A) 불릿 5개 이내 · (B) 표(항목·담당·기한·상태) · (C) 짧은 문장 3개. 버전 앞에 (A)(B)(C).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메모에 없는 내용 금지, 불명확하면 '확인필요'. (C)는 행정용어 없이. 숫자는 메모 표기 그대로.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목표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384962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사실을 기관장·실무·주민용 3가지 톤으로 다시 쓴다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0" y="2706624"/>
            <a:ext cx="3849624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589520" y="2706624"/>
            <a:ext cx="54864" cy="1188720"/>
          </a:xfrm>
          <a:prstGeom prst="rect">
            <a:avLst/>
          </a:prstGeom>
          <a:solidFill>
            <a:srgbClr val="0B6B6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0" y="2779776"/>
            <a:ext cx="3575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실무 맥락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035808"/>
            <a:ext cx="3538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기관장은 결론만, 실무는 담당·기한, 주민은 '내게 뭐가 달라지나' — 문서 3개가 따로 필요합니다.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0" y="4023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· 산출물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4297680"/>
            <a:ext cx="38496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파일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attach01 회의 메모 · attach02 용어 브리프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도구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업로드 지원 LLM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버전을 한 화면에 — 톤 차이 확인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601675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강사 노트 · (C) 주민 안내문에서 행정용어를 그대로 옮기는 경우가 많음 — 첨부02를 반드시 함께 업로드하도록 안내.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★ 핵심 미션 · 실습 4 / 6 · 1:20 ~ 1:50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뒤죽박죽 회의 메모를 기관장이 1분 안에 결정할 1페이지로 바꿉니다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6675120" cy="411480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883664"/>
            <a:ext cx="6199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· 5-ELEMENT 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" y="2176272"/>
            <a:ext cx="61996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2304288"/>
            <a:ext cx="6199632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민원행정과장을 보좌하는 기획 담당이다. 회의 결과를 기관장용 문서로 바꾼다.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첨부01에 이슈와 결정사항이 섞여 있다. 수치: 처리기한 준수율 85%(목표 92%), 무단투기 민원 18건 → 27건, 콜센터 응대율 88%(목표 90%). 내일 간부회의에 한 장 보고.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'결정사항'만 추출(논의만 한 것 제외). 2) 담당·기한을 표로, 불명확 시 '다음 회의 전'. 3) 1페이지: 제목/핵심요약 3줄/주요지표/리스크/다음조치. 4) '기관장이 결정할 것' 1가지.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2)는 표(결정사항/담당/기한/근거 문장). 3)은 A4 1장 분량.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숫자는 정확히 인용. 메모에 근거 없는 내용 금지. 추정은 '(추정)' 표기.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목표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384962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 메모를 기관장이 1분 안에 결정할 1페이지로 바꾼다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0" y="2706624"/>
            <a:ext cx="3849624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589520" y="2706624"/>
            <a:ext cx="54864" cy="1188720"/>
          </a:xfrm>
          <a:prstGeom prst="rect">
            <a:avLst/>
          </a:prstGeom>
          <a:solidFill>
            <a:srgbClr val="0B6B6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0" y="2779776"/>
            <a:ext cx="3575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실무 맥락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035808"/>
            <a:ext cx="3538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간부회의는 여러 부서 보고를 30분에 소화합니다. '결정 요청' 없는 보고서는 시간 낭비입니다.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0" y="4023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· 산출물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4297680"/>
            <a:ext cx="38496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파일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attach01 회의 메모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옵션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분량: A4 1장/반 페이지 · 상세도: 표준/핵심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보고용 1페이지 — 실습 5 검증 대상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601675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강사 노트 · 참가자가 "다음 조치"를 뭉뚱그리기 쉬움. "누가·무엇을·언제까지"가 반드시 다 있는지 체크.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5 / 6 · 1:50 ~ 2:20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방금 만든 AI 산출물을 5가지 기준으로 다시 훑습니다 — 검증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6675120" cy="411480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883664"/>
            <a:ext cx="6199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· 5-ELEMENT 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" y="2176272"/>
            <a:ext cx="61996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2304288"/>
            <a:ext cx="6199632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문서를 깐깐하게 보는 검토자다. 작성자가 아니라 검수자 입장에서 틀린 곳을 찾는다.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방금 작성된 '기관장 보고용 1페이지'와 원문(첨부01)이 있다. 내일 간부회의에 그대로 올라간다. 숫자나 사실이 틀리면 문제가 된다.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5기준 판정: ①사실 ②수치 ③출처·근거 ④누락 ⑤과도한 단정. 2) '수정필요'마다 원문의 어긋난 문장을 인용하고 고친 문장 제시. 3) '가능 / 수정 후 가능 / 불가'로 최종 판정.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표: 항목 / 판정 / 근거(원문 인용) / 수정안. 표 아래 최종 판정 한 줄.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'문제없음' 남발 금지, 근거 필수. 새 내용을 추가해 보고서를 늘리지 말 것. 원문에 없는 사실 채우기 금지.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목표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384962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방금 만든 AI 산출물을 5기준으로 다시 훑는 검증 습관을 만든다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0" y="2706624"/>
            <a:ext cx="3849624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589520" y="2706624"/>
            <a:ext cx="54864" cy="1188720"/>
          </a:xfrm>
          <a:prstGeom prst="rect">
            <a:avLst/>
          </a:prstGeom>
          <a:solidFill>
            <a:srgbClr val="0B6B6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0" y="2779776"/>
            <a:ext cx="3575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실무 맥락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035808"/>
            <a:ext cx="3538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수치 하나 틀리면 다음 예산·인력 결정이 틀어집니다. AI를 그대로 쓰지 않는 것이 첫걸음입니다.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0" y="4023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· 산출물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4297680"/>
            <a:ext cx="38496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5기준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사실·수치·출처·누락·단정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옵션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 강도: 표준/엄격/빠른(치명적만)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검토표 + 수정본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601675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강사 노트 · 실습 4의 산출물이 있어야 진행됨. 앞 실습이 완결되지 않은 참가자는 다른 팀 결과를 공유하거나 예시로 실습.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6 / 6 · 2:20 ~ 3:00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배운 규칙을 굳혀 내일 업무에도 쓸 내 전용 비서를 만듭니다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6675120" cy="411480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883664"/>
            <a:ext cx="6199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· 5-ELEMENT 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" y="2176272"/>
            <a:ext cx="61996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2304288"/>
            <a:ext cx="6199632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지금부터 나의 전용 업무비서다. 아래 지침을 이후 모든 대화에서 지킨다.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나는 민원행정과에서 일한다. 반복 업무: 주간 민원 현황 요약, 민원 답변 초안, 회의록, 주민 안내문. 내부 자료라 숫자를 잘못 옮기면 곧바로 문제가 된다.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규칙 등록: 결론부터 / 숫자는 원문 그대로 / 불확실은 '확인필요' / 형식은 기관장보고·실무공유·주민안내 중 하나 / 미지정 시 되묻기. 2) 규칙 3줄 요약. 3) 반복 업무 1건 예시. 4) "더 잘 쓰려면?" 질문 3개.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 요약 3줄 → 예시 산출물 → 질문 3개.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수치를 지어내지 말고 값은 [ ] 자리표시자로. 개인정보는 절대 넣지 말 것. 규칙 위반 시 스스로 지적하고 다시 쓸 것.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목표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384962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규칙을 굳혀 내일 업무에도 쓸 내 전용 비서를 만든다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0" y="2706624"/>
            <a:ext cx="3849624" cy="1188720"/>
          </a:xfrm>
          <a:prstGeom prst="rect">
            <a:avLst/>
          </a:prstGeom>
          <a:solidFill>
            <a:srgbClr val="F7F5F0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589520" y="2706624"/>
            <a:ext cx="54864" cy="1188720"/>
          </a:xfrm>
          <a:prstGeom prst="rect">
            <a:avLst/>
          </a:prstGeom>
          <a:solidFill>
            <a:srgbClr val="0B6B6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0" y="2779776"/>
            <a:ext cx="3575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실무 맥락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035808"/>
            <a:ext cx="3538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부서마다 반복 업무가 다릅니다. 내 부서의 반복 업무에 특화되어야 비서의 재사용 가치가 생깁니다.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0" y="4023360"/>
            <a:ext cx="3849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· 산출물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4297680"/>
            <a:ext cx="38496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옵션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부서: 민원행정/환경위생/복지/회계/홍보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커스텀 지시 지원 LLM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· </a:t>
            </a:r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비서 프롬프트 → 팀 위키 저장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601675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강사 노트 · ChatGPT Custom GPT / Claude Projects 만들기 데모를 5분 정도 보여주면 참가자 이해도가 크게 올라감.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· 기초 1 ·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자산 — 기관장 보고용 1페이지와 내 전용 AI 비서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4206240" cy="36118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205740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END OF COURSE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286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E3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3H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987552" y="3657600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"내 업무를 AI에게 정확히 시키는 법"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7552" y="4389120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감각이 있으면 기초 2·중급이 모두 확장입니다.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21808" y="1783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CHECKLIST — 최종 산출물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21808" y="2276856"/>
            <a:ext cx="274320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64757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42432" y="222199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도구별 특징 비교표  (실습 1)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21808" y="2788920"/>
            <a:ext cx="274320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64757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42432" y="273405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전/후 프롬프트  (실습 2)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21808" y="3300984"/>
            <a:ext cx="274320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64757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742432" y="324612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용도별 요약문 3종  (실습 3)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21808" y="3813048"/>
            <a:ext cx="274320" cy="274320"/>
          </a:xfrm>
          <a:prstGeom prst="rect">
            <a:avLst/>
          </a:prstGeom>
          <a:solidFill>
            <a:srgbClr val="B7F34A"/>
          </a:solidFill>
          <a:ln w="15875">
            <a:solidFill>
              <a:srgbClr val="B7F3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21808" y="3794760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42432" y="375818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보고용 1페이지 보고서 — 대표 산출물  (실습 4)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21808" y="4325112"/>
            <a:ext cx="274320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64757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42432" y="427024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산출물 검토표  (실습 5)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21808" y="4837176"/>
            <a:ext cx="274320" cy="274320"/>
          </a:xfrm>
          <a:prstGeom prst="rect">
            <a:avLst/>
          </a:prstGeom>
          <a:solidFill>
            <a:srgbClr val="B7F34A"/>
          </a:solidFill>
          <a:ln w="15875">
            <a:solidFill>
              <a:srgbClr val="B7F34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21808" y="481888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42432" y="478231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AI 업무비서 프롬프트  (실습 6)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 · 기초 2(데이터) — 민원 CSV 정제·KPI·예측 · 1페이지 보고서 · 대시보드 웹앱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749808" y="588873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만든 비서 프롬프트가 내일 아침의 첫 프롬프트입니다.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구경거리가 아니라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내일 아침 간부회의에 가져갈 도구입니다.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과정의 자산은 프롬프트 5요소와 검증 5기준입니다.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회의 메모 한 장이</a:t>
            </a:r>
            <a:endParaRPr lang="en-US" sz="2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보고서가 되는 3시간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기초 1 · 문서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5303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3시간 · 도구 비교 · 프롬프트 · 업무문서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이 덱의 실습 데이터(attach01·attach02)는 교육용 가상 자료입니다. 사례 수치의 출처는 각 슬라이드 하단에 표기했습니다.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2026-09-09T08:19:58Z</dcterms:created>
  <dcterms:modified xsi:type="dcterms:W3CDTF">2026-09-09T08:19:58Z</dcterms:modified>
</cp:coreProperties>
</file>