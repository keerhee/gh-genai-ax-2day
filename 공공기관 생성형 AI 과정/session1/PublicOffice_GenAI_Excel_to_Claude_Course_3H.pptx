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417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</a:t>
            </a:r>
            <a:endParaRPr lang="en-US" sz="4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클로드로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· VLOOKUP · 데이터 테이블 · 차트 — 실습 6종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3504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 · 독립 과정 3시간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59618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385048" y="960120"/>
            <a:ext cx="2478024" cy="4087368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385048" y="960120"/>
            <a:ext cx="2478024" cy="81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기능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5048" y="1777594"/>
            <a:ext cx="2478024" cy="81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5048" y="2595067"/>
            <a:ext cx="2478024" cy="81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5048" y="3412541"/>
            <a:ext cx="2478024" cy="81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85048" y="4230014"/>
            <a:ext cx="2478024" cy="81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6종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기능마다 개념 한 장과 실습 한 장이 짝을 이룹니다. 실습 여섯 개가 이 과정의 뼈대입니다.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103120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35608" y="2505456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578608" y="210312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도구와 데이터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19088" y="210312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고르는 기준은 “다음 달”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250545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· 대화창 · 클로드 코드 · 실습 파일 6종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295351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8368" y="2999232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435608" y="3401568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578608" y="299923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기능별 실습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19088" y="299923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1~5 · 개념 + 직접 실행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3401568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· VLOOKUP · 데이터 테이블 · 정제 · 판정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384962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58368" y="3895344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435608" y="4297680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578608" y="3895344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19088" y="3895344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6 · 무엇을 보여줄지부터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19088" y="429768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고르기 · 프롬프트 5요소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8368" y="474573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58368" y="4791456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435608" y="5193792"/>
            <a:ext cx="822960" cy="0"/>
          </a:xfrm>
          <a:prstGeom prst="line">
            <a:avLst/>
          </a:prstGeom>
          <a:noFill/>
          <a:ln w="31750">
            <a:solidFill>
              <a:srgbClr val="B7F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578608" y="4791456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대시보드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19088" y="479145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여섯 프롬프트로 화면 하나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9088" y="519379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정제부터 검산까지 · 함정과 균형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844253" y="5705856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8368" y="5852160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읽고 끝내지 않습니다. 여섯 번 직접 돌려 봅니다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같은 손동작을 반복하고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피벗을 다시 만들고, 서식을 다시 잡고, 담당자가 바뀌면 처음부터.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19072"/>
            <a:ext cx="4480560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958584" y="1719072"/>
            <a:ext cx="4480560" cy="371246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87552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엑셀로 매달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24128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피벗을 다시 만든다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서식을 다시 잡는다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보고서로 옮겨 적는다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7552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달 뒤 남는 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파일 하나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87768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7768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클로드로 한 번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24344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규칙을 한 번 말한다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절차가 같이 남는다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달엔 파일만 바꾼다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87768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달 뒤 남는 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87768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 돌릴 수 있는 절차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38928" y="3099816"/>
            <a:ext cx="1819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22976" y="3575304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49808" y="563270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차이는 속도가 아니라, 만드는 과정이 남느냐입니다.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9808" y="608990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엑셀은 결과만 남습니다. 그래서 다음 달에 처음부터 다시 하게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도구가 셋입니다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작업 대부분은 클로드 대화창에서 그냥 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92224"/>
            <a:ext cx="3343656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· 엑셀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즉석 계산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29443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10512" y="294436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입력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58444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10512" y="358444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xlsx 하나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22452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10512" y="422452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처음부터 다시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87552" y="479145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남이 셀을 고쳐야 할 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76928" y="1792224"/>
            <a:ext cx="3343656" cy="3529584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0611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 · 클로드 대화창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611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한 번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632960" y="29443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29072" y="294436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업로드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32960" y="358444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29072" y="358444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답변 · 표 · 차트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632960" y="422452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29072" y="422452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 올려 설명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706112" y="479145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연락처는 지우고 올린다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95488" y="1792224"/>
            <a:ext cx="3343656" cy="352958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42467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 · 클로드 코드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2467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반복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8351520" y="29443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47632" y="294436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PC 폴더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51520" y="358444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47632" y="358444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+ 절차 + 기록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8351520" y="422452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47632" y="422452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파일만 바꿔 실행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424672" y="479145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파일이 밖으로 안 나간다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9808" y="557784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고르는 기준은 기능이 아니라 “다음 달에도 하는가”입니다.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기준선 하나만 기억하면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문장이 대화창과 클로드 코드 양쪽에서 그대로 통합니다.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883664"/>
            <a:ext cx="3105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8368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한 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2450592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794행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8096" y="3285744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달치 분석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" y="4120896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대화창으로 충분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92296" y="3529584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95800" y="1883664"/>
            <a:ext cx="3105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495800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같은 형식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5528" y="2450592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12개월 반복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05528" y="3285744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서식 고정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05528" y="4120896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클로드 코드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29728" y="3529584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333232" y="1883664"/>
            <a:ext cx="3105912" cy="32918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333232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바뀌지 않는 것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2960" y="2450592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시키는 문장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42960" y="3285744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“행정동별로 묶어서…”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42960" y="4120896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양쪽 동일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844253" y="5577840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58368" y="5724144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문장을 배워 두면 도구가 바뀌어도 그대로 쓰입니다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파일은 여섯 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압축을 풀고 한 폴더에 두면 됩니다. 원본 폴더는 읽기 전용으로 둡니다.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88366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93008" y="188366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99248" y="188366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02368" y="1883664"/>
            <a:ext cx="1636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쓰는 실습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340864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01_complaints_raw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493008" y="2340864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원본 — 오염 포함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99248" y="234086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794행 × 14열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802368" y="2340864"/>
            <a:ext cx="16367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1 · 4 · 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288950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368" y="3035808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02_dept_master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493008" y="3035808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 마스터 — 법정처리기한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99248" y="303580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7행 × 6열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802368" y="3035808"/>
            <a:ext cx="16367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2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58368" y="358444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8368" y="3730752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03_monthly_summary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493008" y="3730752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12개월 요약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699248" y="373075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12행 × 7열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802368" y="3730752"/>
            <a:ext cx="16367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6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427939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4425696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04_whatif_params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493008" y="4425696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인력 운영 파라미터·단가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699248" y="442569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10행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802368" y="4425696"/>
            <a:ext cx="16367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3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58368" y="497433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8368" y="5120640"/>
            <a:ext cx="2834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05_prompt_templates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3493008" y="5120640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1~6 프롬프트 템플릿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699248" y="512064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6행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802368" y="5120640"/>
            <a:ext cx="16367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58368" y="566928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49808" y="587044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강사용 정답키 99_answer_key_instructor.csv는 수강생 배포본에서 빼고 나눠 줍니다.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실습이 같은 다섯 칸을 씁니다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칸 이름만 알면 여섯 실습의 프롬프트가 전부 읽힙니다.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975104"/>
            <a:ext cx="195133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231136"/>
            <a:ext cx="12929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615184"/>
            <a:ext cx="12929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입장에서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7552" y="4370832"/>
            <a:ext cx="12929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판단 기준이 달라진다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65730" y="1975104"/>
            <a:ext cx="195133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194914" y="2231136"/>
            <a:ext cx="12929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94914" y="2615184"/>
            <a:ext cx="12929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파일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상황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194914" y="4370832"/>
            <a:ext cx="12929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컬럼과 함정을 알려준다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73091" y="1975104"/>
            <a:ext cx="1951330" cy="292608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02275" y="2231136"/>
            <a:ext cx="12929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02275" y="2615184"/>
            <a:ext cx="12929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계산할지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402275" y="4370832"/>
            <a:ext cx="12929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틀리면 답이 틀린다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80453" y="1975104"/>
            <a:ext cx="195133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609637" y="2231136"/>
            <a:ext cx="12929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09637" y="2615184"/>
            <a:ext cx="12929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모양으로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609637" y="4370832"/>
            <a:ext cx="12929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틀리면 모양만 다르다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87814" y="1975104"/>
            <a:ext cx="1951330" cy="292608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816998" y="2231136"/>
            <a:ext cx="12929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816998" y="2615184"/>
            <a:ext cx="12929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넘지 말아야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할 선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816998" y="4370832"/>
            <a:ext cx="129296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보존 · 개인정보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" y="526694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헷갈리면 이렇게 묻습니다 — “이걸 빼면 답이 틀리나, 모양만 달라지나?”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49808" y="588873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틀리면 [지시], 모양만 달라지면 [형식], 하지 말아야 할 선이면 [제약].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기능을 문장으로 — 그리고 직접 돌려 봅니다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기능마다 개념 한 장, 실습 한 장. LAB 1부터 5까지.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테이블 PivotTable — 묶어서 집계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 가장 많이 쓰는 기능이자, 문장으로 바꾸기 가장 쉬운 기능입니다.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19072"/>
            <a:ext cx="4480560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958584" y="1719072"/>
            <a:ext cx="4480560" cy="371246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87552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 칸에 끌어다 놓기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24128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 — 묶을 기준 (행정동)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열 — 둘째 기준 (민원유형)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값 — 계산할 숫자 (처리일수)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7552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 하나 · 만든 과정은 안 남음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87768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7768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문장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24344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“행정동별로 묶어서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건수와 평균 처리일수를 표로,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건수 많은 순으로 정렬해줘”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87768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87768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 + CSV + 계산식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522976" y="3575304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9808" y="5614416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교차표가 필요하면 — “행에 행정동, 열에 민원유형을 놓고 평균 처리일수로”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9808" y="605332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엑셀 피벗은 값을 바꾸면 새로고침해야 하지만, 문장은 파일만 바꿔 다시 말하면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1 · 피벗 테이블 PivotTable · 12분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1 — 행정동별로 묶어 느린 곳을 찾습니다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민원 현황을 집계해 부서장 보고에 올리는 담당자다.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17496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238974"/>
            <a:ext cx="10085832" cy="10489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01_complaints_raw.csv 794행. 행정동·처리일수·만족도 컬럼이 있고, 처리일수에 결측과 범위를 벗어난 값이 섞여 있다.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3278777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3342785"/>
            <a:ext cx="10085832" cy="10489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행정동별 건수·평균 처리일수·평균 만족도를 표로 만들고 평균 처리일수가 큰 순서로 정렬하라. ② 전체 평균을 표 아래에 함께 적어라. ③ 각 행마다 계산에서 제외한 행 수를 적어라.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38258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446597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 1개 + CSV 저장. 열은 행정동·건수·평균 처리일수·평균 만족도·제외 행 수.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97564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503965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표본 20건 미만 행정동은 순위에서 빼고 따로 표시하라. 결측을 0이나 평균으로 채우지 마라.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확인 — 전체 평균 7.9일 · 1위 가온동 12.2일(126건) · 처리일수 결측·비숫자 101행 제외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VLOOKUP — 다른 표에서 값 붙이기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실무에서 가장 자주 깨지는 수식이자, 문장으로 바꾸면 오히려 안전해지는 기능입니다.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19072"/>
            <a:ext cx="4480560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958584" y="1719072"/>
            <a:ext cx="4480560" cy="371246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87552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수식이 깨지는 자리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24128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범위를 안 고정하면 밀린다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#N/A를 따로 세야 한다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공백 한 칸에 실패한다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7552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맞는지 눈으로 확인해야 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87768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7768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찾기 + 검증을 한 번에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24344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“부서코드에 부서목록의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부서명을 붙여줘.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못 찾은 건 따로 보여줘”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87768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87768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병합본 + 미매칭 목록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522976" y="3575304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9808" y="5614416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“못 찾은 건 따로 보여줘” — 이 한마디가 #N/A를 세는 일을 대신합니다.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2 · VLOOKUP · 12분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2 — 부서 마스터를 붙이고 기한 초과를 셉니다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474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두 파일을 연결하는 데이터 담당자다. 못 찾은 값을 임의로 채우지 않는다.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111121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175129"/>
            <a:ext cx="10085832" cy="9212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01_complaints_raw.csv의 부서 컬럼에 02_dept_master.csv의 법정처리기한을 붙인다. 부서명이 비어 있는 행이 있다.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3087243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3151251"/>
            <a:ext cx="10085832" cy="13681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부서를 기준으로 두 파일을 붙여 법정처리기한 컬럼을 추가하라. ② 붙지 않은 행을 목록으로 보여라. ③ 마스터에는 있는데 원본에 한 건도 없는 부서도 지적하라. ④ 처리일수가 기한을 넘은 건을 세고 부서별 초과율 표를 내라.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51027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574286"/>
            <a:ext cx="10085832" cy="474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병합본 CSV + 미매칭 목록 + 부서별 초과율 표(부서·초과·판정가능·초과율).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5039487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5103495"/>
            <a:ext cx="10085832" cy="474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미매칭 행을 임의의 부서로 채우지 마라. 처리일수가 없는 행은 판정에서 빼고 건수를 밝혀라.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확인 — 미매칭 12행(부서 결측) · 체육진흥과 원본 0건 · 기한 초과 234/676건(34.6%) · 1위 청소행정과 70.2%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테이블 Data Table — 입력을 흔들어 결과를 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가상 분석(What-If)의 핵심 도구. 민감도 분석이라고도 부릅니다.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19072"/>
            <a:ext cx="4480560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958584" y="1719072"/>
            <a:ext cx="4480560" cy="371246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87552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격자를 손으로 짠다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24128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행에 인력 3~8명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열에 1인당 2.0~3.5건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가상 분석 → 데이터 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7552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격자 하나 · 조건이 바뀌면 처음부터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87768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7768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문장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24344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“인력과 1인당 처리를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격자로 놓고 처리일수를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계산해 표로 보여줘”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87768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87768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격자 + 목표 달성 조합 + 비용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522976" y="3575304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9808" y="5614416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데이터 테이블은 값만 냅니다. 문장은 “목표를 만족하는 최소비용 조합”까지 냅니다.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749808" y="605332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예산·인력·요금처럼 “얼마를 바꾸면 얼마가 되는가”를 묻는 자리에 항상 쓰입니다.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3 · 데이터 테이블 Data Table · What-If · 15분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3 — 인력과 생산성을 흔들어 처리일수를 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424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인력 운영안을 검토하는 분석 담당자다. 가정을 숨기지 않는다.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061464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125472"/>
            <a:ext cx="10085832" cy="821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04_whatif_params.csv에 월 접수 68건, 현재 인력 4명, 1인당 일처리 2.5건, 목표 6.0일이 있다. 평균 처리일수 = 접수건수 ÷ (인력 × 1인당 일처리).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93827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3002280"/>
            <a:ext cx="10085832" cy="1616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인력 3~8명을 행, 1인당 2.0·2.5·3.0·3.5건을 열로 격자표를 만들고 각 칸에 평균 처리일수를 소수 둘째 자리로 계산하라. ② 목표 6.0일 이하 칸을 표시하라. ③ 기간제 1인·월 180만원과 교육 1회 300만원(1인당 +0.5건)을 적용해 최소비용 조합을 찾아라. ④ 증원과 교육 중 무엇이 유리한지 조건부로 서술하라.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60959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673600"/>
            <a:ext cx="10085832" cy="424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격자표 1개(목표 달성 칸 강조) + 비용 비교표 + 결론 3줄.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5089144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5153152"/>
            <a:ext cx="10085832" cy="424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대기·이월을 반영하지 않은 단순 모형임을 표 아래에 밝혀라. 효과를 단정하지 마라.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확인 — 기준 4명·2.5건 6.80일 · 목표 이하 17칸 · 인력 5명 5.44일(180만/월) vs 교육 후 4명 5.67일(300만/1회)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나머지 기능도 문장이 정해져 있습니다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집계와 정제 — 실습 1·2에서 그대로 씁니다.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04488" y="201168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 이렇게 말한다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79408" y="2011680"/>
            <a:ext cx="245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4688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COUNTIF·SUMIF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904488" y="24688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접수채널이 국민신문고인 건수와 평균 만족도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979408" y="246888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 + 계산식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32369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3832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필터·정렬 Filter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904488" y="33832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처리일수가 평균의 1.5배를 넘는 건만 CSV로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979408" y="338328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41513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42976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 Remove Dup.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904488" y="42976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완전히 같은 행을 세고 지운 전후 행수를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79408" y="429768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제거 근거표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50657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8368" y="52120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찾기·바꾸기 Find&amp;Replace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3904488" y="52120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뜻 다른 표기를 목록으로 먼저 보여줘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979408" y="521208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변경 이력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59801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“먼저 보여줘”를 붙이면 승인 뒤에 바꿉니다. 원본을 지키는 습관입니다.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나머지 기능도 문장이 정해져 있습니다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점검과 분류 — 실습 3에서 그대로 씁니다.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04488" y="201168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 이렇게 말한다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79408" y="2011680"/>
            <a:ext cx="245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4688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텍스트 나누기 Text to Col.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04488" y="24688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주소에서 행정동만 떼어 새 컬럼으로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79408" y="246888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32369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3832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유효성 Validation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904488" y="33832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처리일수가 음수이거나 365를 넘는 행을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79408" y="338328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오류 목록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41513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42976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IF 중첩 Nested IF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904488" y="42976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‘종량제·꽁초’가 있으면 일반생활폐기물로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979408" y="429768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분류본 + 보류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50657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8368" y="52120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조건부 서식 Cond. Format.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3904488" y="52120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평균보다 1.5배 느린 행정동을 빨강으로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979408" y="521208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화면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59801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수식 채우기(드래그)는 대응이 없습니다. 규칙을 한 번 말하면 794행 전체에 적용됩니다.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 · 찾기바꾸기 · 데이터 유효성 — 정제 3종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 마우스로 하던 정제 세 가지가 문장 하나로 묶입니다.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95681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04488" y="1956816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 이렇게 말한다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79408" y="1956816"/>
            <a:ext cx="245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414016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 Remove Dup.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904488" y="2414016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행과 ID만 다른 행을 세고 전후 행수를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979408" y="2414016"/>
            <a:ext cx="24597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제거 근거표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310896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25526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찾기·바꾸기 Find&amp;Replace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3904488" y="3255264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뜻 다른 표기를 목록으로 먼저 보여줘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979408" y="3255264"/>
            <a:ext cx="24597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변경 이력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395020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409651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텍스트 나누기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904488" y="4096512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날짜 형식이 몇 종류인지 세고 하나로 통일해줘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979408" y="4096512"/>
            <a:ext cx="24597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479145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8368" y="493776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유효성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3904488" y="4937760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처리일수가 0~365 밖인 행을 찾아줘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979408" y="4937760"/>
            <a:ext cx="24597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오류 목록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563270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49808" y="587044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세 박자를 지킵니다 — 먼저 보여줘 → 승인 → 저장. 원본은 어떤 경우에도 덮어쓰지 않습니다.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4 · 정제 · 15분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4 — 무엇을 지울지 먼저 보여 달라고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데이터 정제 담당자다. 지운 것은 모두 근거를 남긴다.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17496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238974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01_complaints_raw.csv 794행에 중복·표기 흔들림·날짜 형식·범위를 벗어난 값이 섞여 있다.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76801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2832027"/>
            <a:ext cx="10085832" cy="1559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완전히 같은 행과 민원ID만 다른 행을 각각 세어 보고하라. ② 민원유형 앞뒤 공백과 접수채널 표기 차이를 목록으로 먼저 보여라. ③ 날짜 형식이 몇 종류인지 세고 하나로 통일하라. ④ 처리일수가 0~365 밖인 행을 찾아라. ⑤ 승인하면 정제본으로 저장하라.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38258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446597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전후 행수 + 항목별 제거 근거표 + 정제본 CSV.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97564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503965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원본을 수정하지 마라. 지운 행은 행번호와 이유를 남긴다. 연락처는 뒤 네 자리만 남긴다.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확인 — 완전중복 18 · ID만 다른 중복 12 · 유형 앞뒤 공백 30 · 채널 표기 4 · 슬래시 날짜 113 · 처리일수 범위이탈 5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조건부 서식 Conditional Formatting — 눈에 띄게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엑셀에서는 색을 칠하고, 클로드에서는 기준을 바꿀 수 있는 화면이 나옵니다.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19072"/>
            <a:ext cx="4480560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958584" y="1719072"/>
            <a:ext cx="4480560" cy="371246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87552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셀에 색을 칠한다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24128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규칙을 셀 범위에 건다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기준값이 수식에 박힌다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조건이 다섯 개 넘으면 못 읽는다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바꾸려면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규칙을 다시 연다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87768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7768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기준을 화면에 꺼낸다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24344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“평균의 1.5배를 넘는 행을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빨강으로 칠하고, 배수는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화면에서 바꿀 수 있게 해줘”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87768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바꾸려면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87768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입력칸 숫자를 고친다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522976" y="3575304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9808" y="5614416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기준을 코드에 박으면 회의에서 못 바꿉니다. 화면에 꺼내 두면 그 자리에서 답이 나옵니다.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9808" y="605332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IF 중첩도 같습니다 — 규칙을 문장으로 쓰고, 애매한 건은 임의로 정하지 말고 따로 빼게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5 · 조건부 서식 Conditional Formatting · 15분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5 — 기준을 화면에서 바꿀 수 있게 만듭니다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474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판정 기준을 설계하고 화면으로 남기는 담당자다.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111121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175129"/>
            <a:ext cx="10085832" cy="474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4의 정제본을 쓴다. 전체 평균보다 느린 집단을 찾아 회의에서 띄울 화면이 필요하다.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64033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2704338"/>
            <a:ext cx="10085832" cy="1815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전체 평균의 1.5배를 임계값으로 잡고 초과하는 행정동·민원유형을 찾아라. ② 표본 20건 미만은 제외하고 따로 표시하라. ③ 초과 행을 빨강으로 칠한 표를 HTML 한 파일로 만들고 임계 배수를 화면에서 바꿀 수 있게 하라. ④ 민원내용요약에 ‘재접수·다시·또’가 있으면 반복민원으로 분류하라.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51027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574286"/>
            <a:ext cx="10085832" cy="474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판정표 + 단일 HTML 파일. 임계 배수 입력칸을 상단에 둔다.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5039487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5103495"/>
            <a:ext cx="10085832" cy="474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데이터를 서버로 보내지 마라. 연락처를 화면에 띄우지 마라. 임계값을 코드에 고정하지 마라.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확인 — 임계 11.9일 · 행정동 가온동 12.2일 · 민원유형 건축 인허가 15.1일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엑셀에는 없는 두 마디가 실무에서 더 자주 쓰입니다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표를 만드는 것보다, 표를 믿을 수 있게 만드는 말입니다.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5116068" cy="292608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359152"/>
            <a:ext cx="4457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· 물어보기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 컬럼이 뭘 뜻하는지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값을 보고 추측해줘”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552" y="4498848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인수인계 없이 받은 파일 앞에서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23076" y="2103120"/>
            <a:ext cx="5116068" cy="292608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652260" y="2359152"/>
            <a:ext cx="4457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· 되짚기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52260" y="2743200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 숫자가 어떻게 나온 건지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원본에서 다시 세어줘”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52260" y="4498848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결재 직전 검산 · 가장 강력한 한마디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557784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엑셀은 물어볼 수 없습니다. 이 차이가 결재 속도를 바꿉니다.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종류를 고르는 게 아니라, 무엇을 보여줄지를 말한다.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왼쪽 칸을 먼저 고르면 차트는 따라옵니다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엑셀은 범위 → 차트 종류 순서지만, 클로드는 반대입니다.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88366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보여줄 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61488" y="1883664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93208" y="1883664"/>
            <a:ext cx="6345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이렇게 말한다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34086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 흐름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761488" y="2340864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선그래프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93208" y="2340864"/>
            <a:ext cx="6345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월별 총민원 추이를. 평균은 회색 점선으로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290779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05409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 비교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761488" y="3054096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가로막대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3054096"/>
            <a:ext cx="6345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행정동별 평균 처리일수를 큰 순서대로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362102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376732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구성비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761488" y="376732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 누적막대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93208" y="3767328"/>
            <a:ext cx="6345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행정동별 접수채널 구성비를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433425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8368" y="448056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퍼짐 정도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761488" y="4480560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히스토그램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93208" y="4480560"/>
            <a:ext cx="6345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 분포를. 극단값도 같이 봐줘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504748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519379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값의 관계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2761488" y="5193792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산점도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093208" y="5193792"/>
            <a:ext cx="6345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처리일수와 만족도 관계를. 이름도 붙여서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576072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49808" y="599846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파이는 항목이 5개를 넘으면 못 읽습니다. 보고서의 파이는 대부분 가로막대가 낫습니다.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 프롬프트에 반드시 넣을 다섯 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하나만 빠져도 다시 그리게 됩니다. 특히 세 번째.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1936699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990088"/>
            <a:ext cx="12783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3374136"/>
            <a:ext cx="127833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어느 파일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어느 컬럼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69387" y="2103120"/>
            <a:ext cx="1936699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198571" y="2990088"/>
            <a:ext cx="12783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98571" y="3374136"/>
            <a:ext cx="127833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차트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80406" y="2103120"/>
            <a:ext cx="1936699" cy="256032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09590" y="2990088"/>
            <a:ext cx="12783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핵심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09590" y="3374136"/>
            <a:ext cx="127833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 폰트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지정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91426" y="2103120"/>
            <a:ext cx="1936699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620610" y="2990088"/>
            <a:ext cx="12783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20610" y="3374136"/>
            <a:ext cx="127833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제목 · 축</a:t>
            </a:r>
            <a:endParaRPr lang="en-US" sz="1950" dirty="0"/>
          </a:p>
          <a:p>
            <a:pPr marL="0" indent="0">
              <a:buNone/>
            </a:pPr>
            <a:r>
              <a:rPr lang="en-US" sz="19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단위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02445" y="2103120"/>
            <a:ext cx="1936699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831629" y="2990088"/>
            <a:ext cx="12783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31629" y="3374136"/>
            <a:ext cx="127833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 형식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크기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" y="5230368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폰트를 안 적으면 한글이 □□□로 나옵니다. 가장 흔한 실패입니다.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9808" y="587044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“한글 폰트는 맑은 고딕, 없으면 NanumGothic으로 지정해줘” — 이 한 줄이면 끝납니다.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 6 · 차트 · 12분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6 — 다섯 가지를 다 넣어 한 번에 뽑습니다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62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[데이터]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03_monthly_summary.csv의 월 · 총민원건수 · 쓰레기민원건수 컬럼을 쓴다.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26009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324100"/>
            <a:ext cx="10085832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[차트]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월별 총민원 건수 추이를 선그래프로 그린다. 12개월 전체 평균을 회색 점선으로 함께 긋고, 가장 높은 달에만 값을 표시한다.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353415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3598164"/>
            <a:ext cx="10085832" cy="62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[폰트]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한글이 깨지지 않게 맑은 고딕(없으면 NanumGothic)으로 지정한다.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21233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276344"/>
            <a:ext cx="10085832" cy="62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[라벨]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제목은 ‘2026년 월별 민원 접수’, y축 이름은 ‘건수’로 한다.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89051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4954524"/>
            <a:ext cx="10085832" cy="62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[저장]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PNG 1200×600, 150dpi로 monthly_trend.png에 저장한다.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확인 — 12개월 평균 63.7건 · 최대 2026-08 71건 · 최소 2025-12 57건 · 쓰레기민원 최근4개월 68건 vs 직전4개월 46건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그래프를 받는 방법이 셋입니다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어디에 쓸 것인지에 따라 달라집니다.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883664"/>
            <a:ext cx="31059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8368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이미지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2450592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68096" y="3255264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보고서·기안문에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" y="4059936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붙일 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92296" y="3483864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95800" y="1883664"/>
            <a:ext cx="3105912" cy="320040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495800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웹 화면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5528" y="2450592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HTML 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05528" y="3255264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조건을 바꿔가며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05528" y="4059936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볼 때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29728" y="3483864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333232" y="1883664"/>
            <a:ext cx="31059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333232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엑셀 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2960" y="2450592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xlsx 차트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42960" y="3255264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결재라인이 원본을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42960" y="4059936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요구할 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" y="5431536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“결과를 차트가 들어간 엑셀 파일로 만들어줘” — 셋째도 한 문장입니다.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실습에서 만드는 대시보드가 ②입니다. 파일 하나로 돌고 인터넷이 필요 없습니다.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여기까지가 실습 여섯 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실습의 산출물이 다음 실습의 입력이 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847088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LAB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35608" y="184708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기능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90288" y="184708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24928" y="1847088"/>
            <a:ext cx="40142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 숫자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304288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435608" y="2304288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테이블 PivotTable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90288" y="230428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행정동별 집계표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24928" y="2304288"/>
            <a:ext cx="4014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7.9일 · 가온동 12.2일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8368" y="27797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368" y="2926080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435608" y="2926080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VLOOKUP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90288" y="292608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병합본 + 초과율 표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24928" y="2926080"/>
            <a:ext cx="4014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미매칭 12 · 초과 34.6%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58368" y="340156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8368" y="3547872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435608" y="3547872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테이블 Data Table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4590288" y="354787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6×4 격자 + 최소비용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424928" y="3547872"/>
            <a:ext cx="4014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 6.80일 · 목표 이하 17칸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402336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4169664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435608" y="4169664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 Remove Dup.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90288" y="4169664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 + 근거표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24928" y="4169664"/>
            <a:ext cx="4014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18+12 · 슬래시 113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58368" y="464515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8368" y="4791456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1435608" y="4791456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조건부 서식 Cond. Fmt.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590288" y="4791456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판정표 + HTML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24928" y="4791456"/>
            <a:ext cx="4014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임계 11.9일 · 가온동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58368" y="526694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58368" y="5413248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1435608" y="5413248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Chart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590288" y="541324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monthly_trend.png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424928" y="5413248"/>
            <a:ext cx="40142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평균 63.7건 · 최대 71건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658368" y="588873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49808" y="587044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LAB 3(데이터 테이블)만 원본 데이터가 아니라 파라미터 파일을 씁니다. 예산·인력 결정에 쓰는 도구라서 그렇습니다.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— 실습 여섯 개를 화면 하나로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앞의 기능들을 순서대로 쌓으면, 매달 쓰는 화면 하나가 남는다.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여섯 개면 대시보드가 나옵니다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01_complaints_raw.csv 794행 → complaint_dashboard.html 한 파일까지.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84708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75688" y="1847088"/>
            <a:ext cx="4434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이렇게 말한다 (요지)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10528" y="184708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엑셀로 치면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08008" y="1847088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30428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파악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075688" y="2304288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헤더와 첫 5행부터 보여줘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10528" y="2304288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훑기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08008" y="2304288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 점검표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8368" y="27797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368" y="292608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정제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075688" y="2926080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중복과 표기 차이를 먼저 보여줘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10528" y="292608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중복·표기 정리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208008" y="2926080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 CSV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58368" y="340156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8368" y="354787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집계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075688" y="3547872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행정동별로 묶어 KPI를 내줘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10528" y="35478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피벗테이블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08008" y="3547872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· 세그먼트 표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658368" y="402336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416966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생성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2075688" y="4169664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화면을 HTML 한 파일로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510528" y="416966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엑셀에는 없음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208008" y="4169664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 1차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58368" y="464515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8368" y="4791456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개선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2075688" y="4791456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추이 그래프와 강조를 붙여줘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10528" y="4791456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· 조건부 서식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208008" y="4791456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 2차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58368" y="526694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58368" y="541324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⑥ 검증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2075688" y="5413248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원본에서 다시 세어 검산표를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510528" y="5413248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엑셀에는 없음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208008" y="5413248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검산표 · README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658368" y="588873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49808" y="587044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④와 ⑥이 엑셀에 대응이 없습니다. 그 둘이 이 작업을 “다음 달에도 쓰는 것”으로 만듭니다.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1 · 파악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— 고치기 전에 파일이 어떤 상태인지부터 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62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민원 데이터를 다루는 담당자다. 원본 파일은 어떤 경우에도 수정하지 않는다.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26009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324100"/>
            <a:ext cx="10085832" cy="62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 폴더에 01_complaints_raw.csv 하나가 있다. 컬럼 구성과 값의 상태를 아직 모른다.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93827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3002280"/>
            <a:ext cx="10085832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헤더와 첫 5행을 그대로 출력하라. 글자가 깨지면 인코딩을 바꿔 다시 읽어라. ② 컬럼마다 결측 수·고유값 수·값 예시 3개를 표로 정리하라. ③ 숫자여야 하는데 문자로 읽힌 컬럼을 지적하라.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21233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276344"/>
            <a:ext cx="10085832" cy="62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 두 개 — 헤더 미리보기, 컬럼 점검표.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89051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4954524"/>
            <a:ext cx="10085832" cy="62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아직 아무것도 고치지 마라. 판단이 애매하면 임의로 정하지 말고 되물어라.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엑셀로 치면 파일을 열어 훑는 단계입니다. 여기를 건너뛰면 뒤에서 반드시 되돌아옵니다.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2 · 정제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— 무엇을 지울지 먼저 보여 달라고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데이터 정제 담당자다. 지운 것은 모두 근거를 남긴다.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17496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238974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 점검이 끝났다. 중복·표기 흔들림·범위를 벗어난 값이 섞여 있다.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76801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2832027"/>
            <a:ext cx="10085832" cy="1559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완전히 같은 행과 민원ID만 다른 행을 각각 세어 보고하라. ② ‘국민 신문고’처럼 같은 뜻 다른 표기를 목록으로 먼저 보여줘라. ③ 처리일수 음수·365 초과, 만족도 1~5 밖을 찾아라. ④ 내가 승인하면 clean 폴더에 정제본으로 저장하라.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38258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446597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전후 행수 + 항목별 제거 근거표.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97564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503965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원본은 수정하지 않는다. 지운 행은 행번호와 이유를 남긴다. 연락처는 마스킹한다.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“먼저 보여줘 → 승인 → 저장”. 이 세 박자가 원본을 지키는 습관입니다.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3 · 집계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— 피벗을 문장으로 시키는 자리입니다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민원 현황을 숫자로 정리해 팀장 보고에 올리는 담당자다.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17496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238974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정제본이 준비됐다. 회의에서 바로 쓸 지표와 비교표가 필요하다.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76801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2832027"/>
            <a:ext cx="10085832" cy="1559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전체 KPI 다섯 개 — 총건수·완료율·평균 처리일수·재민원율·평균 만족도. ② 행정동별·민원유형별·접수채널별 건수와 평균 처리일수를 표로 만들어라. ③ 전체 평균의 1.5배보다 느린 집단을 표시하라.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38258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446597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표 1개 + 세그먼트 표 3개. 숫자마다 제외한 행 수를 함께 적는다.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97564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503965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표본이 20건 미만인 집단은 순위에서 빼고 따로 표시한다.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마지막 줄이 핵심입니다. 표본이 작은 집단이 1위로 올라오는 사고를 미리 막습니다.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4 · 생성 (PRD)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— 이 한 장으로 대시보드가 만들어집니다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사내용 대시보드를 만드는 개발 파트너다. 외부 라이브러리 없이 HTML 한 파일로 만든다.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17496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238974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사용자는 민원 담당자다. 매달 CSV를 올려 현황을 확인하고, 회의에서 그 화면을 띄운다.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768019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2832027"/>
            <a:ext cx="10085832" cy="1559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화면을 다섯 영역으로 만든다. 1) 적재 — CSV를 올리면 헤더를 읽어 자동 매핑하고 드롭다운으로 고칠 수 있게. 2) 정제 스트립 — 제거한 행수와 이유를 한 줄로. 3) KPI 다섯 칸. 4) 비교 — 기준(행정동·유형·채널)을 바꾸면 즉시 다시 그린다. 5) Audit — 숫자마다 계산식과 원천을 펼쳐 본다.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382589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446597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HTML 파일. 파일명은 complaint_dashboard.html.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975642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503965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데이터를 서버로 보내지 않는다. 연락처는 화면에서도 마스킹한다. 인터넷 없이 열려야 한다.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여기서부터가 엑셀에 대응이 없는 구간입니다. 요구사항을 쓰는 만큼 결과가 나옵니다.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네 개 뒤에 이 화면이 나옵니다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산출물 · 파일 하나 · 외부 라이브러리 0개 · 인터넷 불필요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21408"/>
            <a:ext cx="3154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377440"/>
            <a:ext cx="2496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화면에서 읽는 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834640"/>
            <a:ext cx="24963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3438144"/>
            <a:ext cx="240487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한 문장 결론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정제 근거·KPI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추이와 비교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4480560"/>
            <a:ext cx="249631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794행 → 정제본 748행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73295" y="2121408"/>
            <a:ext cx="585307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fig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295" y="2121408"/>
            <a:ext cx="5853074" cy="33832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9808" y="561441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정제 스트립(원본 794행 → 정제본 748행)이 화면에 남아 있는 것이 이 대시보드의 특징입니다.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5 · 개선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 — 한 번에 하나씩만 붙입니다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9212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방금 만든 앱을 함께 개선하는 파트너다. 하나를 끝내고 화면이 깨지지 않았는지 확인한 뒤 다음으로 간다.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558034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622042"/>
            <a:ext cx="10085832" cy="474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1차 앱이 동작한다. 회의에서 쓰려면 추이와 강조가 필요하다.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3087243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3151251"/>
            <a:ext cx="10085832" cy="13681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월별 추이 선그래프를 넣어라. 전체 평균을 회색 점선으로 함께 긋는다. ② 전체 평균의 1.5배를 넘는 행을 빨강으로 칠하고, 기준값은 화면에서 바꿀 수 있게 한다. ③ 지금 보이는 표를 CSV로 내보내는 버튼을 넣어라.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51027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574286"/>
            <a:ext cx="10085832" cy="474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번에 하나씩. 매번 무엇이 바뀌었는지 한 줄로 알려준다.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5039487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5103495"/>
            <a:ext cx="10085832" cy="474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라이브러리를 추가하지 않는다. 차트는 SVG로 직접 그린다.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셋을 한 번에 시키면 앱이 통째로 깨지고 복구에 10분을 씁니다. 한 번에 하나.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6 · 검증과 인계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 — 화면의 숫자를 원본에서 다시 셉니다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배포 전 숫자를 검증하는 감사 담당자이자, 다음 달 담당자에게 넘길 문서를 쓰는 사람이다.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17496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238974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앱이 완성됐다. 화면의 숫자가 원본과 맞는지 아직 확인하지 않았다.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76801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2832027"/>
            <a:ext cx="10085832" cy="1559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화면의 KPI 다섯 개를 원본 CSV에서 다시 계산해 검산표를 만들어라. 다르면 원인을 적어라. ② 정제 규칙·판정 기준·제외 행 수를 README 한 장으로 정리하라. ③ 다음 달 실행 절차를 세 줄로 적어라.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38258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446597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검산표 + README.md.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97564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503965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숫자가 다르면 앱을 고치기 전에 원인부터 보고한다.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이 단계를 넣는 순간 결과물이 “내가 만든 것”에서 “남에게 넘길 수 있는 것”이 됩니다.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작업이 값어치를 하는 건 다음 달입니다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여섯 개는 파일에 남습니다. 다시 쓰면 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920240"/>
            <a:ext cx="310591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8368" y="2139696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2487168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90분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68096" y="3261360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여섯 단계를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" y="4035552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처음부터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92296" y="3474720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95800" y="1920240"/>
            <a:ext cx="310591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495800" y="2139696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5528" y="2487168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5분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05528" y="3261360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CSV를 넣고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05528" y="4035552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프롬프트로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29728" y="3474720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333232" y="1920240"/>
            <a:ext cx="3105912" cy="310896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333232" y="2139696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담당자가 바뀌면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2960" y="2487168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README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442960" y="3261360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규칙과 절차가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42960" y="4035552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글로 남아 있다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" y="535838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엑셀은 결과만 넘겨줍니다. 이쪽은 만드는 방법을 넘겨줍니다.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그래서 첫 달에 90분을 쓰는 것이 아깝지 않습니다. 두 번째 달부터가 이익입니다.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막히는 곳과 엑셀의 자리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미리 알면 30분을 아낀다. 그리고 엑셀을 언제 남길지도 정해 둔다.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여기서 자주 막힙니다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여섯 가지 모두 한 문장으로 풀립니다.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88366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93008" y="188366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19088" y="1883664"/>
            <a:ext cx="5020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이렇게 말한다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340864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한글이 □□□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93008" y="234086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폰트 미지정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19088" y="2340864"/>
            <a:ext cx="5020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 폰트를 찾아서 적용해줘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290779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054096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글자가 깨진 CSV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493008" y="305409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CP949 인코딩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19088" y="3054096"/>
            <a:ext cx="5020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UTF-8로 다시 저장부터 해줘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362102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3767328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합계가 엑셀과 다름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493008" y="376732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 값·오류 행 제외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19088" y="3767328"/>
            <a:ext cx="5020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몇 행을 제외했는지 알려줘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433425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8368" y="448056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숫자가 계산 안 됨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3493008" y="448056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 단위 콤마·공백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19088" y="4480560"/>
            <a:ext cx="5020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숫자로 바꾸고 실패한 값은 목록으로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504748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5193792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파일이 너무 큼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493008" y="519379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전국 단위 수십만 행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19088" y="5193792"/>
            <a:ext cx="5020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관할과 기간으로 먼저 잘라줘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576072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49808" y="599846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결과를 못 믿겠을 때 — “원본에서 다시 세어 검산표를 만들어줘”가 가장 강력합니다.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엑셀이 여전히 나은 세 경우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대체가 아니라 분업입니다.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20행짜리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즉석 계산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7552" y="440740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설명하는 시간이 더 길다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남이 셀을 직접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고쳐야 하는 양식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706112" y="440740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 취합 서식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283464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결재라인이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원본 요구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424672" y="440740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xlsx로 내보내면 해결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반복되는 정제·집계·차트는 클로드가, 마지막 사람 손은 엑셀이 맡습니다.</a:t>
            </a:r>
            <a:endParaRPr lang="en-US" sz="2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결국 다섯 문장이 대시보드 하나가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앞에서 본 엑셀 기능들이 어디에 들어갔는지 확인하고 마칩니다.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1900123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04088" y="2103120"/>
            <a:ext cx="1808683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찾기·바꾸기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595067" y="2811780"/>
            <a:ext cx="2468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878531" y="2103120"/>
            <a:ext cx="1900123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924251" y="2103120"/>
            <a:ext cx="1808683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피벗테이블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815230" y="2811780"/>
            <a:ext cx="2468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98694" y="2103120"/>
            <a:ext cx="1900123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144414" y="2103120"/>
            <a:ext cx="1808683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조건부 서식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035394" y="2811780"/>
            <a:ext cx="2468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318858" y="2103120"/>
            <a:ext cx="1900123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64578" y="2103120"/>
            <a:ext cx="1808683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255557" y="2811780"/>
            <a:ext cx="2468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539021" y="2103120"/>
            <a:ext cx="1900123" cy="141732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584741" y="2103120"/>
            <a:ext cx="1808683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58368" y="3840480"/>
            <a:ext cx="51160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87552" y="4096512"/>
            <a:ext cx="4457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바뀌지 않은 것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" y="4480560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볼지 정하는 일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87552" y="5047488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기준·임계값·제외 규칙은 여전히 사람이 정한다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23076" y="3840480"/>
            <a:ext cx="5116068" cy="173736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652260" y="4096512"/>
            <a:ext cx="4457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바뀐 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52260" y="4480560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만드는 과정이 남는다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652260" y="5047488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· 정제 규칙 · 검산표 · README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9808" y="581558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판단은 그대로 담당자의 몫입니다. 손이 하던 부분만 넘어갔습니다.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23444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기능을 배우는 게 아닙니다.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2039112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원하는지 말하는 겁니다.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2843784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엑셀은 그대로 두셔도 됩니다.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3913632"/>
            <a:ext cx="10469880" cy="0"/>
          </a:xfrm>
          <a:prstGeom prst="line">
            <a:avLst/>
          </a:prstGeom>
          <a:noFill/>
          <a:ln w="1270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49808" y="4315968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여섯 번이면</a:t>
            </a:r>
            <a:endParaRPr lang="en-US" sz="24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달에도 돕니다.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0" y="416052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0" y="493776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6종 · 대응표 13개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5303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프롬프트 6개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5833872"/>
            <a:ext cx="10597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A9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 · 독립 과정 · 실습 데이터 6종과 강사용 정답키가 함께 제공됩니다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4244</Words>
  <Application>Microsoft Office PowerPoint</Application>
  <PresentationFormat>와이드스크린</PresentationFormat>
  <Paragraphs>694</Paragraphs>
  <Slides>42</Slides>
  <Notes>42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5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哥 大</cp:lastModifiedBy>
  <cp:revision>1</cp:revision>
  <dcterms:created xsi:type="dcterms:W3CDTF">2026-09-05T04:06:41Z</dcterms:created>
  <dcterms:modified xsi:type="dcterms:W3CDTF">2026-09-05T04:18:07Z</dcterms:modified>
</cp:coreProperties>
</file>