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</a:t>
            </a:r>
            <a:endParaRPr lang="en-US" sz="4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 입문 (요약)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"책을 많이 읽은 아이"에서 AI와 협업하는 조직까지 — 60분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Lecture · 2026 · 초보자용 축약본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도구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 도구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Agent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조직의 동료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흐름 — 이해하고, 의심하고, 실행하고, 조직을 바꿉니다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35608" y="226885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87452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이해 · Understanding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19088" y="187452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어디까지 왔고, 어떻게 답을 만드나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226885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4단계 진화 · 생성AI 정의 · 책을 많이 읽은 아이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70891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5463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35608" y="314896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75463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· Doubt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275463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의심하는 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14896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극공감 · 할루시네이션 · 다섯 안전장치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5890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3474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435608" y="4029075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363474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· Agent &amp; Tools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363474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답하는 AI에서 실행하는 AI로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402907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고르기 · AI Agent · MCP · 바이브 코딩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" y="446913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514850"/>
            <a:ext cx="7315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435608" y="4909185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4514850"/>
            <a:ext cx="393192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· AX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19088" y="4514850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AX는 조직의 운영 방식이다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088" y="4909185"/>
            <a:ext cx="4754880" cy="394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DX→AX · 세 단계 계단 · 사람의 다섯 역할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844253" y="553212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67842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여러분은 AI에게 답을 받고 싶은가요, 아니면 일을 맡기고 싶은가요?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Opening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우리가 함께 답해볼 다섯 가지 질문입니다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905039"/>
            <a:ext cx="10780776" cy="36057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05039"/>
            <a:ext cx="10780776" cy="3605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원리 → 공감 → 환각 → Agent → AX, 이 순서로 답합니다.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이해 — AI는 어디까지 왔고, 어떻게 답을 만드나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→ 생성 → 실행 → 동료 · 생성AI의 정의 · 책을 많이 읽은 아이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네 단계로 진화합니다 — 검색·생성·실행, 그리고 동료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3068" y="1792224"/>
            <a:ext cx="8351377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068" y="1792224"/>
            <a:ext cx="8351377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2023년엔 글쓰기 도우미, 2026년엔 스스로 실행하는 Agent이자 팀원입니다.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과거에는 사람이 AI를 사용했고, 지금은 사람과 AI가 함께 일합니다.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생성AI는 정보를 찾는 AI가 아니라, 새로운 결과물을 만드는 AI입니다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기존 AI는 패턴을 인식해 분류·예측·추천하고, 생성AI는 문서·이미지·코드·대화를 새로 만듭니다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4064" y="2139696"/>
            <a:ext cx="8049385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064" y="2139696"/>
            <a:ext cx="8049385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찾기 → 결과물 만들기. 분석 도구에서 함께 일하는 생산성 파트너로 이동합니다.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GPT는 책을 엄청 많이 읽은 아이입니다 — 경험이 아니라 패턴을 배웠습니다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78153" y="1792224"/>
            <a:ext cx="7741206" cy="3831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53" y="1792224"/>
            <a:ext cx="7741206" cy="3831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'서울'을 아는 게 아니라 '서울'이 올 확률이 높다고 예측합니다 — 초거대 자동완성기.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GPT는 문맥을 보고 다음에 올 가장 그럴듯한 말을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 · 이 한 가지 원리에서 AI의 강점(유창함)과 약점(환각)이 모두 나옵니다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7130" y="2139696"/>
            <a:ext cx="7003252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7130" y="2139696"/>
            <a:ext cx="7003252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말하는 내용은 사실을 찾은 것이 아니라, 가장 그럴듯한 말을 만든 것입니다.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그리고 사람이 좋아하는 답변 방식으로 조정(RLHF)됩니다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9558" y="1792224"/>
            <a:ext cx="7058395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558" y="1792224"/>
            <a:ext cx="7058395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사전학습 → 지시학습 → 사람의 피드백(RLHF). 그래서 친절하고 도움이 되지만,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사람을 만족시키려다 맞장구만 치는 AI가 될 수도 있습니다.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01 · Episode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에피소드 · Suno로 만든 엄마 생일 노래 — 가족모임에 웃음꽃이 피었습니다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5852160" cy="3575304"/>
          </a:xfrm>
          <a:prstGeom prst="rect">
            <a:avLst/>
          </a:prstGeom>
          <a:solidFill>
            <a:srgbClr val="071A1D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029968"/>
            <a:ext cx="5193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음악 생성 · Suno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5193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이름·추억·하고 싶은 말을 넣으니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3090672"/>
            <a:ext cx="510235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따뜻한 멜로디·가사 즉시 생성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보컬까지 합성한 완성곡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가족모임 재생 → 다들 감동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4325112"/>
            <a:ext cx="5193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텍스트를 넘어 음악·영상까지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suno.com/s/udJEt7xEMJtngs3x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39297" y="1773936"/>
            <a:ext cx="3018549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12" name="Image 0" descr="fig/p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297" y="1773936"/>
            <a:ext cx="3018549" cy="3575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545896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패턴 학습의 힘은 '경험하지 않은 것'도 그럴듯하게 만들어 낸다는 데 있습니다.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의심 — AI를 의심하는 법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극공감형 AI · 할루시네이션 · 다섯 가지 안전장치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잘 쓰려면 먼저 AI를 의심하는 법을 알아야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70744" y="1792224"/>
            <a:ext cx="9756023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44" y="1792224"/>
            <a:ext cx="9756023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극공감형 AI — 동의가 곧 정답은 아닙니다. 할루시네이션 — 그럴듯함과 사실성은 다릅니다.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도구로만 쓰면 '편리하다'에서 멈춥니다. 의심하고 검증해야 비로소 잘 쓸 수 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02 · Sycophancy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토론에서 이기려는 상대가 아니라, 대화를 이어주는 직원입니다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극공감(Sycophancy) = 사용자의 입장에 맞장구치는 경향. 사람의 👍/👎 피드백으로 학습되며 생깁니다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93282" y="2139696"/>
            <a:ext cx="9510949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282" y="2139696"/>
            <a:ext cx="9510949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동의했다고 해서 내 판단이 맞다는 뜻은 아닙니다.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02 · 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OpenAI도 인정한 문제 — 너무 친절한 ChatGPT를 96시간 만에 롤백했습니다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0138" y="1792224"/>
            <a:ext cx="10377236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138" y="1792224"/>
            <a:ext cx="10377236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4월, 위험한 결정조차 칭찬하는 ChatGPT — 나흘 만에 이전 버전으로 되돌렸습니다.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세계 최대 AI 회사조차 잡지 못한 '친절함의 부작용' — 주간 사용자 5억 명에게 영향.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02 · Hallucination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할루시네이션 — 그럴듯하지만 사실이 아닌 답입니다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AI는 가장 그럴듯한 문장을 만들 뿐, 사실 여부를 자동으로 보장하지 않습니다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2139696"/>
            <a:ext cx="9902952" cy="3300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39696"/>
            <a:ext cx="9902952" cy="33009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53212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AI의 답은 초안입니다. 중요한 사실·숫자·출처는 반드시 사람이 검증합니다.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갱신: 법원 문서의 AI 허위 인용 사례는 2026.9 현재 2,000건 초과 (D. Charlotin, AI Hallucination Cases DB)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02 · Five Safety Nets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완전히 없애기보다, 다섯 가지 안전장치로 위험을 줄이는 것이 현실적입니다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819086"/>
            <a:ext cx="7270556" cy="3457573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3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19086"/>
            <a:ext cx="7270556" cy="34575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03244" y="1792224"/>
            <a:ext cx="323590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9" name="Image 1" descr="fig/p23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244" y="1792224"/>
            <a:ext cx="3235900" cy="35112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541324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요구 · 모르면 모른다고 · 기준 자료 제공 · 검색 기반 도구 · 사람이 검토.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749808" y="5815584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중요한 결정·외부 발신·고객 응대는 100% 사람의 최종 확인입니다.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정답이 필요한 일에선 위험하지만, 상상이 필요한 일에선 출발점이 됩니다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7295" y="1792224"/>
            <a:ext cx="9342922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295" y="1792224"/>
            <a:ext cx="9342922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법률·회계·의료·투자·안전·인사 = 검증. 카피·스토리·콘셉트·신사업 아이디어 = 발산.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정확한 업무엔 위험, 창의적 업무엔 출발점 — 일의 성격에 따라 다르게 씁니다.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— 답하는 AI에서 실행하는 AI로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고르기 · AI Agent · MCP · 바이브 코딩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03 · Model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9월 기준 — 초보자는 이 다섯 가지만 알아도 충분합니다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지식 · 모델(엔진)과 앱(ChatGPT·Claude)은 다릅니다. 같은 앱 안에서도 등급별 모델을 고릅니다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10312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21608" y="2103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정의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47688" y="2103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이럴 때 쓴다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73768" y="210312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 수준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GPT-5.6 Sol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21608" y="25603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기본, 균형형 범용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7688" y="25603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보고서·기획·데이터 분석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73768" y="256032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$$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" y="292608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07238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Sonnet 5 / Opus 5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3721608" y="30723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글쓰기·긴 문서·코드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647688" y="307238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제안서·계약서 검토·코드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73768" y="3072384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$$ / $$$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" y="34381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58444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Gemini 3.8 Flash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721608" y="358444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초고속·저비용 멀티모달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647688" y="358444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요약·번역·Google 연동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73768" y="3584448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" y="39502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9651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Perplexity Sonar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721608" y="409651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 기반 검색·리서치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647688" y="409651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시장조사·사실 확인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573768" y="409651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46227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60857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GPT-6 · Claude Fable 5.1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3721608" y="46085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최상위 추론·에이전트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647688" y="46085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고난도 분석·자율 작업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573768" y="4608576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$$$$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" y="49743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548640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'가장 좋은 모델' 하나가 아니라, 일의 난이도와 비용에 맞춰 등급을 고릅니다.</a:t>
            </a:r>
            <a:endParaRPr lang="en-US" sz="2150" dirty="0"/>
          </a:p>
        </p:txBody>
      </p:sp>
      <p:sp>
        <p:nvSpPr>
          <p:cNvPr id="37" name="Text 35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2026.9 공개 라인업 기준. $ 표시는 상대적 API 비용 수준이며 수시로 바뀝니다.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03 ·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유형에 가장 잘 맞는 AI 도구를 매칭합니다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3566160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29968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TOOLS · 툴 활용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248716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도구 도입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3090672"/>
            <a:ext cx="281635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유형 → 도구 매칭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많은 조직이 여기서 멈춤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매칭이 성과의 시작점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325112"/>
            <a:ext cx="2907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당장 30% 줄일 일은?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15771" y="1773936"/>
            <a:ext cx="5979603" cy="3575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12" name="Image 0" descr="fig/p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771" y="1773936"/>
            <a:ext cx="5979603" cy="3575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5458968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ChatGPT·Claude·Gemini·Perplexity·Genspark·NotebookLM — 가장 잘하는 일이 다릅니다.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03 · AI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Agent는 답하는 AI가 아니라, 실행하는 AI입니다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Agent = 목표를 받으면 계획을 세우고, 도구를 골라 쓰고, 결과를 검증해 일을 끝내는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98614" y="2139696"/>
            <a:ext cx="1030028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614" y="2139696"/>
            <a:ext cx="10300284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"이거 어떻게 해?" → GPT · "이거 해봐." → Agent. 당신은 답을 받고 싶은가, 일을 끝내게 하고 싶은가?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03 · AI at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3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작성·요약·조사·분석 — 업무 시간의 30% 이상을 줄일 수 있습니다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933939"/>
            <a:ext cx="10780776" cy="354790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33939"/>
            <a:ext cx="10780776" cy="35479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질문 · 매주 반복되지만, 내가 처음부터 하지 않아도 되는 일은 무엇입니까?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03 · MCP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MCP란 무엇인가 — AI를 외부 시스템과 연결하는 표준 인터페이스입니다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MCP = AI가 ERP·DB·메일·문서 같은 외부 도구를 표준 방식으로 쓰게 하는 'AI용 USB-C'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3773" y="2139696"/>
            <a:ext cx="7529965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3773" y="2139696"/>
            <a:ext cx="7529965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LLM은 생각하고, MCP는 외부 세계와 연결합니다 — 2025.12 Linux Foundation 산하 표준이 되었습니다.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03 · Vibe Coding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바이브 코딩 — 자연어로 설명하면, AI가 코드를 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개발자가 아니어도 아이디어를 말로 설명해 프로토타입과 작은 도구를 빠르게 만드는 방식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25059" y="2139696"/>
            <a:ext cx="884739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059" y="2139696"/>
            <a:ext cx="8847394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'직접 타이핑'보다 '정확히 설명'하는 능력입니다. 단, 프로토타입 ≠ 운영 시스템.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— AX는 조직의 운영 방식이다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DX → AX · 활용 vs AX · 세 단계 계단 · 사람의 다섯 역할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04 · DX → AX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AX는 도구 도입이 아니라, 업무·의사결정 방식을 바꾸는 것입니다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· AX(AI Transformation) = 사람과 AI가 함께 일하도록 업무 흐름·기준·역할을 다시 설계하는 단계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4153" y="2139696"/>
            <a:ext cx="10729206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8" name="Image 0" descr="fig/p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153" y="2139696"/>
            <a:ext cx="10729206" cy="34838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71500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질문 · 우리 조직은 지금 AI를 '쓰는 중'인가, AX를 '하는 중'인가?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활용은 개인의 생산성, AX는 조직의 운영 방식입니다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03656" y="1792224"/>
            <a:ext cx="1069020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656" y="1792224"/>
            <a:ext cx="10690200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전동드릴을 산다(AI 활용) vs 공장 라인을 재설계한다(AX). 보고서는 빨라졌지만 회사 KPI는 그대로.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질문 · 우리 조직의 '개인기'를 조직 프로세스로 바꿀 수 있는 업무는 무엇입니까?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AX는 한 번에 도달하지 않습니다 — 세 단계 계단으로 오릅니다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63699" y="1792224"/>
            <a:ext cx="8970114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99" y="1792224"/>
            <a:ext cx="8970114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툴 활용 → 오케스트레이션(업무 흐름 설계) → 협업(팀 운영 방식 변화).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AX는 AI를 '쓰는 것'이 아니라, AI가 일하는 방식을 조직 안에 설계하는 것입니다.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04 · Why AX Fails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Gartner — 2027년 말까지 Agentic AI 프로젝트의 40% 이상이 취소됩니다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35181" y="1792224"/>
            <a:ext cx="9427150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181" y="1792224"/>
            <a:ext cx="9427150" cy="33284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21208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부재 · 데이터 미정리 · 책임·검증 체계 없음 · 사람 역할 재정의 실패 · 파일럿에서 멈춤.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49808" y="561441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실패는 모델 성능보다 '운영 설계 실패'에서 더 자주 발생합니다.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출처: Gartner 보도자료 (2025.6.25)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04 · Five Conditions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AX를 성공시키는 다섯 가지 조건 — 선도 기업이 다르게 하는 것들입니다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33777" y="1792224"/>
            <a:ext cx="9429958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777" y="1792224"/>
            <a:ext cx="9429958" cy="3511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53949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명확한 KPI · 1~3개 도메인 집중 · 지식 베이스+표준 프롬프트 · 검증·승인 체계 · 역할 재정의.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579729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McKinsey 2026 — AI를 영업이익에 연결한 고성과 기업은 여전히 약 6%뿐입니다.</a:t>
            </a:r>
            <a:endParaRPr lang="en-US" sz="2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생성AI 이해와 AX 입문 · Part 04 · The Human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시대, 사람이 해야 할 다섯 가지 핵심 역할 — 질문·기준·검증·판단·책임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92224"/>
            <a:ext cx="7814657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</p:sp>
      <p:pic>
        <p:nvPicPr>
          <p:cNvPr id="7" name="Image 0" descr="fig/p51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92224"/>
            <a:ext cx="7814657" cy="3511296"/>
          </a:xfrm>
          <a:prstGeom prst="rect">
            <a:avLst/>
          </a:prstGeom>
        </p:spPr>
      </p:pic>
      <p:pic>
        <p:nvPicPr>
          <p:cNvPr id="8" name="Image 1" descr="fig/p51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345" y="1792224"/>
            <a:ext cx="2691799" cy="35112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엔진이 좋아져도 운전자는 필요합니다. 어디로, 어떤 길로, 언제 멈출지 — 사람이 정합니다.</a:t>
            </a:r>
            <a:endParaRPr lang="en-US" sz="1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엔진.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사람은 운전자.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AI에게 일을 시키고, 결과를 검증하는 사람이 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잘 쓰는 사람은</a:t>
            </a:r>
            <a:endParaRPr lang="en-US" sz="2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답을 맡기는 사람이 아닙니다.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그림·표는 원 강의자료를 그대로 옮겼으며, 모델·통계는 2026년 9월 기준 공개 자료로 갱신했습니다. 90분 완본(63장)은 별도 파일.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2026-09-09T08:14:40Z</dcterms:created>
  <dcterms:modified xsi:type="dcterms:W3CDTF">2026-09-09T08:14:40Z</dcterms:modified>
</cp:coreProperties>
</file>