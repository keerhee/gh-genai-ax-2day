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사전학습 I</a:t>
            </a:r>
            <a:endParaRPr lang="en-US" sz="4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원리 · 한계 · 도구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352044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기초 1 · 문서(3시간·실습 6개)에 들어가기 전에 알아야 할 것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3504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Pre-learning I · 공공기관 생성형 AI · 자습 40분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385048" y="960120"/>
            <a:ext cx="2478024" cy="4087368"/>
          </a:xfrm>
          <a:prstGeom prst="rect">
            <a:avLst/>
          </a:prstGeom>
          <a:solidFill>
            <a:srgbClr val="B7F34A"/>
          </a:solidFill>
          <a:ln/>
        </p:spPr>
      </p:sp>
      <p:sp>
        <p:nvSpPr>
          <p:cNvPr id="6" name="Text 4"/>
          <p:cNvSpPr/>
          <p:nvPr/>
        </p:nvSpPr>
        <p:spPr>
          <a:xfrm>
            <a:off x="8385048" y="960120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어떻게 답을 만드나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48" y="1544030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85048" y="212793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틀리고 왜 맞장구치나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48" y="271184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385048" y="329575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어떤 도구를 고르나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5048" y="387966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85048" y="4463578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시키고 검증하기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 · 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7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사전학습의 흐름 — 원리를 알고, 한계를 알고, 도구를 고릅니다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874520"/>
            <a:ext cx="7315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435608" y="2268855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78608" y="1874520"/>
            <a:ext cx="39319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이해 · 어떻게 답을 만드나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19088" y="1874520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책을 많이 읽은 아이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19088" y="2268855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4단계 진화 · 생성AI 정의 · 다음 말 예측 · RLHF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270891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754630"/>
            <a:ext cx="7315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435608" y="3148965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2754630"/>
            <a:ext cx="39319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의심 · 왜 틀리고 왜 맞장구치나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19088" y="2754630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극공감과 할루시네이션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19088" y="3148965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원인 · OpenAI 롤백 · 다섯 안전장치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358902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634740"/>
            <a:ext cx="7315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435608" y="4029075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78608" y="3634740"/>
            <a:ext cx="39319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 · 무엇을 고르나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19088" y="3634740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2026.9 모델과 도구 매칭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19088" y="4029075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대표 모델 5종 · 업무별 도구 · 반복 업무 6가지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8368" y="446913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514850"/>
            <a:ext cx="7315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435608" y="4909185"/>
            <a:ext cx="822960" cy="0"/>
          </a:xfrm>
          <a:prstGeom prst="line">
            <a:avLst/>
          </a:prstGeom>
          <a:noFill/>
          <a:ln w="31750">
            <a:solidFill>
              <a:srgbClr val="B7F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78608" y="4514850"/>
            <a:ext cx="39319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연결 · 기초 1로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419088" y="4514850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사람의 다섯 역할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19088" y="4909185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사전학습 → 기초 1의 프롬프트 5요소 · 검증 5기준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844253" y="5532120"/>
            <a:ext cx="8409005" cy="0"/>
          </a:xfrm>
          <a:prstGeom prst="line">
            <a:avLst/>
          </a:prstGeom>
          <a:noFill/>
          <a:ln w="44450">
            <a:solidFill>
              <a:srgbClr val="0B6B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5678424"/>
            <a:ext cx="10780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기초 1의 실습 6개는 모두 오늘 배우는 '원리와 한계' 위에 서 있습니다.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 · Why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사전학습인가 — 정확히 시키고 검증하려면 원리를 먼저 알아야 합니다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828800"/>
            <a:ext cx="44805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58584" y="1828800"/>
            <a:ext cx="4480560" cy="3246120"/>
          </a:xfrm>
          <a:prstGeom prst="rect">
            <a:avLst/>
          </a:prstGeom>
          <a:solidFill>
            <a:srgbClr val="071A1D"/>
          </a:solidFill>
          <a:ln/>
        </p:spPr>
      </p:sp>
      <p:sp>
        <p:nvSpPr>
          <p:cNvPr id="8" name="Text 6"/>
          <p:cNvSpPr/>
          <p:nvPr/>
        </p:nvSpPr>
        <p:spPr>
          <a:xfrm>
            <a:off x="987552" y="2084832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기초 1 · 문서 · 3시간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2542032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6개로 손에 남는 것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24128" y="3145536"/>
            <a:ext cx="373075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 비교 · 5요소 프롬프트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기관장 1페이지 보고서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5기준 검증 · AI 비서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4050792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전제: AI가 어떻게 답하는지 안다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87768" y="2084832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사전학습 · 이 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87768" y="2542032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 전에 알아야 할 것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24344" y="3145536"/>
            <a:ext cx="373075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말 예측 확률 기계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맞장구·환각의 이유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도구마다 다른 강점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87768" y="4050792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결과: 왜 5요소·5기준인지 안다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38928" y="2976372"/>
            <a:ext cx="1819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사전학습 → 실습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22976" y="3451860"/>
            <a:ext cx="1051560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49808" y="553212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모자란 게 아니라 우리가 상황을 말해 주지 않은 것 — 그 이유를 원리에서 확인합니다.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이해 — AI는 어떻게 답을 만드나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→ 생성 → 실행 → 동료 · 생성AI의 정의 · 책을 많이 읽은 아이 · RLHF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 · Part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네 단계로 진화합니다 — 검색·생성·실행, 그리고 동료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기초 1·2는 2단계(생성)를 정확히 쓰는 법을 다룹니다. 3·4단계(실행·동료)는 사전학습 II와 중급의 영역입니다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05690" y="2139696"/>
            <a:ext cx="8286131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8" name="Image 0" descr="fig/p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690" y="2139696"/>
            <a:ext cx="8286131" cy="34838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571500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과거에는 사람이 AI를 사용했고, 지금은 사람과 AI가 함께 일합니다.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 · Part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4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생성AI는 정보를 찾는 AI가 아니라, 새로운 결과물을 만드는 AI입니다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정의 · 기존 AI는 패턴을 인식해 분류·예측·추천하고, 생성AI는 문서·이미지·코드·대화를 새로 만듭니다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24064" y="2139696"/>
            <a:ext cx="8049385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8" name="Image 0" descr="fig/p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4064" y="2139696"/>
            <a:ext cx="8049385" cy="34838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571500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회의록 요약·보고서 초안·안내문 — 기초 1의 실습이 모두 '결과물 만들기'입니다.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 · Part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3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GPT는 책을 엄청 많이 읽은 아이입니다 — 경험이 아니라 패턴을 배웠습니다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78153" y="1792224"/>
            <a:ext cx="7741206" cy="3831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8153" y="1792224"/>
            <a:ext cx="7741206" cy="3831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71500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'서울'을 아는 게 아니라 '서울'이 올 확률이 높다고 예측합니다 — 초거대 자동완성기.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 · Part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GPT는 문맥을 보고 다음에 올 가장 그럴듯한 말을 만듭니다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중요한가 · 문맥(Context)이 답을 결정합니다. 프롬프트의 [역할]·[맥락]은 바로 이 문맥을 채우는 일입니다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47130" y="2139696"/>
            <a:ext cx="7003252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8" name="Image 0" descr="fig/p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7130" y="2139696"/>
            <a:ext cx="7003252" cy="34838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571500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말하는 내용은 사실을 찾은 것이 아니라, 가장 그럴듯한 말을 만든 것입니다.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 · Part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그리고 사람이 좋아하는 답변 방식으로 조정(RLHF)됩니다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19558" y="1792224"/>
            <a:ext cx="7058395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9558" y="1792224"/>
            <a:ext cx="7058395" cy="35112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39496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사전학습 → 지시학습 → 사람의 피드백(RLHF). 그래서 친절하고 도움이 되지만,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49808" y="5797296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사람을 만족시키려다 맞장구만 치는 AI가 될 수도 있습니다 — 다음 Part의 주제.</a:t>
            </a:r>
            <a:endParaRPr lang="en-US" sz="2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 · Part 01 · Episode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에피소드 · Suno로 만든 엄마 생일 노래 — 가족모임에 웃음꽃이 피었습니다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73936"/>
            <a:ext cx="5852160" cy="3575304"/>
          </a:xfrm>
          <a:prstGeom prst="rect">
            <a:avLst/>
          </a:prstGeom>
          <a:solidFill>
            <a:srgbClr val="071A1D"/>
          </a:solidFill>
          <a:ln/>
        </p:spPr>
      </p:sp>
      <p:sp>
        <p:nvSpPr>
          <p:cNvPr id="7" name="Text 5"/>
          <p:cNvSpPr/>
          <p:nvPr/>
        </p:nvSpPr>
        <p:spPr>
          <a:xfrm>
            <a:off x="987552" y="2029968"/>
            <a:ext cx="5193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음악 생성 · Suno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" y="2487168"/>
            <a:ext cx="51937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이름·추억·하고 싶은 말을 넣으니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24128" y="3090672"/>
            <a:ext cx="510235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따뜻한 멜로디·가사 즉시 생성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보컬까지 합성한 완성곡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가족모임 재생 → 다들 감동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87552" y="4325112"/>
            <a:ext cx="51937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텍스트를 넘어 음악·영상까지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suno.com/s/udJEt7xEMJtngs3x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39297" y="1773936"/>
            <a:ext cx="3018549" cy="3575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12" name="Image 0" descr="fig/p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9297" y="1773936"/>
            <a:ext cx="3018549" cy="357530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9808" y="5458968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패턴 학습의 힘은 '경험하지 않은 것'도 그럴듯하게 만들어 낸다는 데 있습니다.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의심 — 왜 틀리고, 왜 맞장구치나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극공감형 AI · 할루시네이션 · 다섯 가지 안전장치 · 위험한 영역과 유용한 영역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 · Part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AI를 잘 쓰려면 먼저 AI를 의심하는 법을 알아야 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70744" y="1792224"/>
            <a:ext cx="9756023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744" y="1792224"/>
            <a:ext cx="9756023" cy="35112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39496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극공감형 AI — 동의가 곧 정답은 아닙니다. 할루시네이션 — 그럴듯함과 사실성은 다릅니다.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49808" y="5797296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도구로만 쓰면 '편리하다'에서 멈춥니다. 의심하고 검증해야 비로소 잘 쓸 수 있습니다.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 · Part 02 · Sycophancy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토론에서 이기려는 상대가 아니라, 대화를 이어주는 직원입니다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정의 · 극공감(Sycophancy) = 사용자의 입장에 맞장구치는 경향. 사람의 👍/👎 피드백으로 학습되며 생깁니다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93282" y="2139696"/>
            <a:ext cx="9510949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8" name="Image 0" descr="fig/p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282" y="2139696"/>
            <a:ext cx="9510949" cy="34838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571500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동의했다고 내 판단이 맞는 게 아닙니다 — 보고서의 '가설'을 AI가 확정해 주지 않습니다.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 · Part 02 · Case Study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OpenAI도 인정한 문제 — 너무 친절한 ChatGPT를 96시간 만에 롤백했습니다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0138" y="1792224"/>
            <a:ext cx="10377236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138" y="1792224"/>
            <a:ext cx="10377236" cy="35112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39496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2025년 4월, 위험한 결정조차 칭찬하는 ChatGPT — 나흘 만에 이전 버전으로 되돌렸습니다.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49808" y="5797296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세계 최대 AI 회사조차 잡지 못한 '친절함의 부작용' — 주간 사용자 5억 명에게 영향.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 · Part 02 · Episode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에피소드 · AI에게 극대노한 박미선 — "이봉원 아내는 김미화??"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73936"/>
            <a:ext cx="4754880" cy="3575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029968"/>
            <a:ext cx="4096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Hallucination · 할루시네이션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" y="2487168"/>
            <a:ext cx="40965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인물 관계는 흔한 환각 지점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24128" y="3090672"/>
            <a:ext cx="400507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없는 사실을 자신 있게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정정해도 또 다른 오답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업무에서는 곧 사고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87552" y="4050792"/>
            <a:ext cx="4096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토론 질문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87552" y="4325112"/>
            <a:ext cx="409651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왜 틀린 답도 자신 있게 말할까요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583258" y="1773936"/>
            <a:ext cx="2033348" cy="3575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13" name="Image 0" descr="fig/p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258" y="1773936"/>
            <a:ext cx="2033348" cy="357530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49808" y="5458968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웃고 넘길 일이 민원 답변·보고서에서는 감사 사안이 됩니다.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 · Part 02 · Hallucination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할루시네이션 — 그럴듯하지만 사실이 아닌 답입니다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정의 · AI는 가장 그럴듯한 문장을 만들 뿐, 사실 여부를 자동으로 보장하지 않습니다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97280" y="2139696"/>
            <a:ext cx="9902952" cy="3300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8" name="Image 0" descr="fig/p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39696"/>
            <a:ext cx="9902952" cy="33009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553212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AI의 답은 초안입니다. 중요한 사실·숫자·출처는 반드시 사람이 검증합니다.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749808" y="608990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갱신: 법원 문서의 AI 허위 인용 사례는 2026.9 현재 2,000건 초과 (D. Charlotin, AI Hallucination Cases DB)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 · Part 02 · Why Hallucinations Happen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할루시네이션은 왜 생길까 — 정보의 오류와 예측의 오류입니다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49816" y="1792224"/>
            <a:ext cx="9397880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9816" y="1792224"/>
            <a:ext cx="9397880" cy="35112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39496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재료가 틀리면 틀리고(→ [맥락]에 수치), 말을 잘못 고르면 틀립니다(→ [제약]에 단정 금지).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49808" y="5797296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출처 확인 · 숫자·고유명사·날짜 검증 · 반대 근거 재질문 — 세 가지가 실무 해법입니다.</a:t>
            </a:r>
            <a:endParaRPr lang="en-US" sz="1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 · Part 02 · Probability ≠ Truth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AI의 목표는 진실 찾기가 아니라, 문맥상 그럴듯한 답을 만드는 것입니다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816959"/>
            <a:ext cx="10780776" cy="3461827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16959"/>
            <a:ext cx="10780776" cy="346182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39496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 데이터에 없는 정보 · 최신 정보 접근 제한 · 멈추지 않고 문장 완성 — 세 가지 원인.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49808" y="5797296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진실 생성기가 아니라 확률 생성기입니다.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 · Part 02 · Five Safety Nets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완전히 없애기보다, 다섯 가지 안전장치로 위험을 줄이는 것이 현실적입니다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819086"/>
            <a:ext cx="7270556" cy="3457573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23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19086"/>
            <a:ext cx="7270556" cy="345757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03244" y="1792224"/>
            <a:ext cx="3235900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9" name="Image 1" descr="fig/p23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3244" y="1792224"/>
            <a:ext cx="3235900" cy="35112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5413248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출처 요구 · 모른다고 답하기 · 기준 자료 · 검색 도구 · 사람 검토 — 기초 1 '검증 5기준'과 짝입니다.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49808" y="5815584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중요한 결정·외부 발신·민원 응대는 100% 사람의 최종 확인입니다.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 · Part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3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정답이 필요한 일에선 위험하지만, 상상이 필요한 일에선 출발점이 됩니다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7295" y="1792224"/>
            <a:ext cx="9342922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295" y="1792224"/>
            <a:ext cx="9342922" cy="35112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39496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법령 해석·예산 수치·인사 = 검증. 안내문 문안·행사 아이디어·홍보 콘셉트 = 발산.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749808" y="5797296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정확한 업무엔 위험, 창의적 업무엔 출발점 — 일의 성격에 따라 다르게 씁니다.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 · Part 02 · The Core of Doubt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공감할 수 있습니다. 하지만 책임질 수는 없습니다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2688" y="210312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CAN EMPATHIZE.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32688" y="297180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IS NOT ACCOUNTABLE.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7781544" y="1920240"/>
            <a:ext cx="3657600" cy="566928"/>
          </a:xfrm>
          <a:prstGeom prst="rect">
            <a:avLst/>
          </a:prstGeom>
          <a:solidFill>
            <a:srgbClr val="071A1D"/>
          </a:solidFill>
          <a:ln/>
        </p:spPr>
      </p:sp>
      <p:sp>
        <p:nvSpPr>
          <p:cNvPr id="9" name="Text 7"/>
          <p:cNvSpPr/>
          <p:nvPr/>
        </p:nvSpPr>
        <p:spPr>
          <a:xfrm>
            <a:off x="7781544" y="192024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동의 ≠ 검증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81544" y="2633472"/>
            <a:ext cx="3657600" cy="566928"/>
          </a:xfrm>
          <a:prstGeom prst="rect">
            <a:avLst/>
          </a:prstGeom>
          <a:solidFill>
            <a:srgbClr val="071A1D"/>
          </a:solidFill>
          <a:ln/>
        </p:spPr>
      </p:sp>
      <p:sp>
        <p:nvSpPr>
          <p:cNvPr id="11" name="Text 9"/>
          <p:cNvSpPr/>
          <p:nvPr/>
        </p:nvSpPr>
        <p:spPr>
          <a:xfrm>
            <a:off x="7781544" y="263347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유창함 ≠ 사실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81544" y="3346704"/>
            <a:ext cx="3657600" cy="566928"/>
          </a:xfrm>
          <a:prstGeom prst="rect">
            <a:avLst/>
          </a:prstGeom>
          <a:solidFill>
            <a:srgbClr val="071A1D"/>
          </a:solidFill>
          <a:ln/>
        </p:spPr>
      </p:sp>
      <p:sp>
        <p:nvSpPr>
          <p:cNvPr id="13" name="Text 11"/>
          <p:cNvSpPr/>
          <p:nvPr/>
        </p:nvSpPr>
        <p:spPr>
          <a:xfrm>
            <a:off x="7781544" y="334670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확률 생성기 ≠ 진실 생성기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81544" y="4059936"/>
            <a:ext cx="3657600" cy="566928"/>
          </a:xfrm>
          <a:prstGeom prst="rect">
            <a:avLst/>
          </a:prstGeom>
          <a:solidFill>
            <a:srgbClr val="071A1D"/>
          </a:solidFill>
          <a:ln/>
        </p:spPr>
      </p:sp>
      <p:sp>
        <p:nvSpPr>
          <p:cNvPr id="15" name="Text 13"/>
          <p:cNvSpPr/>
          <p:nvPr/>
        </p:nvSpPr>
        <p:spPr>
          <a:xfrm>
            <a:off x="7781544" y="405993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초안 ≠ 결재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81544" y="4773168"/>
            <a:ext cx="3657600" cy="566928"/>
          </a:xfrm>
          <a:prstGeom prst="rect">
            <a:avLst/>
          </a:prstGeom>
          <a:solidFill>
            <a:srgbClr val="0B6B68"/>
          </a:solidFill>
          <a:ln/>
        </p:spPr>
      </p:sp>
      <p:sp>
        <p:nvSpPr>
          <p:cNvPr id="17" name="Text 15"/>
          <p:cNvSpPr/>
          <p:nvPr/>
        </p:nvSpPr>
        <p:spPr>
          <a:xfrm>
            <a:off x="7781544" y="477316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결재 책임은 작성자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9808" y="553212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그래서 사람이 더 중요해집니다 — 질문하는 사람, 검증하는 사람, 판단하는 사람.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 — 무엇을 고르나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2026년 9월 대표 모델 · 업무별 도구 매칭 · 답하는 AI와 실행하는 AI · 반복 업무 6가지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 · Part 03 · Model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7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2026년 9월 기준 — 초보자는 이 다섯 가지만 알아도 충분합니다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 지식 · 모델(엔진)과 앱(ChatGPT·Claude)은 다릅니다. 같은 앱 안에서도 등급별 모델을 고릅니다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2103120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21608" y="210312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줄 정의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47688" y="210312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이럴 때 쓴다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573768" y="2103120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비용 수준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560320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GPT-5.6 Sol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721608" y="256032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ChatGPT 기본, 균형형 범용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47688" y="256032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보고서·기획·데이터 분석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73768" y="2560320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$$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58368" y="292608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072384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Claude Sonnet 5 / Opus 5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3721608" y="307238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글쓰기·긴 문서·코드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647688" y="307238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보고서·규정 검토·안내문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73768" y="3072384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$$ / $$$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58368" y="343814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584448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Gemini 3.8 Flash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3721608" y="3584448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초고속·저비용 멀티모달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6647688" y="3584448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요약·번역·Google 연동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573768" y="3584448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$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58368" y="395020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096512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Perplexity Sonar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3721608" y="409651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출처 기반 검색·리서치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647688" y="409651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법령·사례 조사·사실 확인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573768" y="4096512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$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58368" y="446227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4608576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GPT-6 · Claude Fable 5.1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3721608" y="460857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최상위 추론·에이전트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6647688" y="460857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고난도 분석·자율 작업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9573768" y="4608576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$$$$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58368" y="497433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" y="548640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1(도구 비교)에서 ChatGPT·Gemini·Claude에 같은 질문을 넣어 이 차이를 직접 확인합니다.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49808" y="5943600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2026.9 공개 라인업 기준. $ 표시는 상대적 API 비용 수준이며 수시로 바뀝니다. 기관 내부망 AI는 허용 범위가 다릅니다.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 · Part 03 · Tools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 유형에 가장 잘 맞는 AI 도구를 매칭합니다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73936"/>
            <a:ext cx="3566160" cy="3575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029968"/>
            <a:ext cx="2907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TOOLS · 툴 활용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" y="2487168"/>
            <a:ext cx="29077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 도구 도입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24128" y="3090672"/>
            <a:ext cx="281635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 유형 → 도구 매칭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대화형·검색형·문서형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매칭이 성과의 시작점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4325112"/>
            <a:ext cx="29077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지금 당장 30% 줄일 일은?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15771" y="1773936"/>
            <a:ext cx="5979603" cy="3575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12" name="Image 0" descr="fig/p4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5771" y="1773936"/>
            <a:ext cx="5979603" cy="357530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9808" y="5458968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ChatGPT·Claude·Gemini·Perplexity·Genspark·NotebookLM — 가장 잘하는 일이 다릅니다.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 · Part 03 · AI Agent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438912"/>
            <a:ext cx="107807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답하는 AI와 실행하는 AI — 기초 1·2는 '답하는 AI를 정확히 시키는 법'입니다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정의 · Agent = 목표를 받으면 계획하고, 도구를 쓰고, 검증해 일을 끝내는 AI (사전학습 II·중급)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98614" y="2139696"/>
            <a:ext cx="10300284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8" name="Image 0" descr="fig/p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614" y="2139696"/>
            <a:ext cx="10300284" cy="34838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571500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"이거 어떻게 해?" → GPT · "이거 해봐." → Agent. 시키는 문법(5요소)은 두 단계에 똑같이 쓰입니다.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 · Part 03 · AI at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3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 작성·요약·조사·분석 — 업무 시간의 30% 이상을 줄일 수 있습니다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회의록 · 보고서 초안 · 조사 · 민원 응대 · 데이터 해석 · 안내 콘텐츠 — 기초 1(문서)·기초 2(데이터)의 실습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55667" y="2139696"/>
            <a:ext cx="10586178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8" name="Image 0" descr="fig/p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67" y="2139696"/>
            <a:ext cx="10586178" cy="34838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571500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강사 질문 · 매주 반복되지만, 내가 처음부터 하지 않아도 되는 일은 무엇입니까?</a:t>
            </a:r>
            <a:endParaRPr lang="en-US" sz="2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연결 — 사전학습 I에서 기초 1로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사람의 다섯 역할 · 원리 → 프롬프트 5요소 · 한계 → 검증 5기준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 · Part 04 · The Human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시대, 사람이 해야 할 다섯 가지 핵심 역할 — 질문·기준·검증·판단·책임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92224"/>
            <a:ext cx="7814657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51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92224"/>
            <a:ext cx="7814657" cy="3511296"/>
          </a:xfrm>
          <a:prstGeom prst="rect">
            <a:avLst/>
          </a:prstGeom>
        </p:spPr>
      </p:pic>
      <p:pic>
        <p:nvPicPr>
          <p:cNvPr id="8" name="Image 1" descr="fig/p51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345" y="1792224"/>
            <a:ext cx="2691799" cy="35112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5468112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엔진이 좋아져도 운전자는 필요합니다. 어디로, 어떤 길로, 언제 멈출지 — 사람이 정합니다.</a:t>
            </a:r>
            <a:endParaRPr lang="en-US" sz="1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 · Part 04 · Bridge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3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사전학습의 원리는 기초 1의 프롬프트 5요소·검증 5기준으로 이어집니다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75564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사전학습에서 배운 것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24528" y="175564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그래서 실습에서는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30768" y="1755648"/>
            <a:ext cx="3008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기초 1 실습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2128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문맥이 답을 결정한다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224528" y="22128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[역할]·[맥락]에 상황과 수치를 준다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30768" y="2212848"/>
            <a:ext cx="3008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2 · 프롬프트 개선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58368" y="263347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77977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도구마다 잘하는 일이 다르다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224528" y="277977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질문을 세 도구에 넣어 비교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30768" y="2779776"/>
            <a:ext cx="3008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1 · 도구 비교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8368" y="320040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34670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맞장구친다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224528" y="334670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반대 의견·약점을 먼저 요구한다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8430768" y="3346704"/>
            <a:ext cx="3008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4 · 기관장 보고서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58368" y="376732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91363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그럴듯함 ≠ 사실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224528" y="391363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[제약]으로 단정·지어내기 금지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430768" y="3913632"/>
            <a:ext cx="3008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2·4 · 제약 요소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658368" y="433425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4805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안전장치 5개 · 사람이 검토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4224528" y="448056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사실·수치·출처·누락·단정 5기준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430768" y="4480560"/>
            <a:ext cx="3008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5 · AI 결과 검증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58368" y="490118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48640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프롬프트는 재능이 아니라 문법이고, 그 문법은 오늘 배운 원리에서 나옵니다.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 · Part 04 · Self-check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5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자가 점검 — 이 다섯 질문에 답할 수 있으면 기초 1 준비가 끝났습니다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828800"/>
            <a:ext cx="3343656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02539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Q1 · 원리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240944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GPT는 어떻게 답을 만드나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87552" y="2921508"/>
            <a:ext cx="2685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말 예측 · 확률 기계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76928" y="1828800"/>
            <a:ext cx="3343656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6112" y="202539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Q2 · 극공감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6112" y="240944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왜 내 말에 동의하나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06112" y="2921508"/>
            <a:ext cx="2685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RLHF · 동의 ≠ 검증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5488" y="1828800"/>
            <a:ext cx="3343656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24672" y="202539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Q3 · 환각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24672" y="240944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틀린 답도 자신 있나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24672" y="2921508"/>
            <a:ext cx="2685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 오류 · 예측 오류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8368" y="3611880"/>
            <a:ext cx="5202936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808476"/>
            <a:ext cx="4544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Q4 · 도구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87552" y="4192524"/>
            <a:ext cx="4544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어떤 일에 어떤 도구를 쓰나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87552" y="4704588"/>
            <a:ext cx="4544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대화형 · 검색형 · 문서형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36208" y="3611880"/>
            <a:ext cx="5202936" cy="1600200"/>
          </a:xfrm>
          <a:prstGeom prst="rect">
            <a:avLst/>
          </a:prstGeom>
          <a:solidFill>
            <a:srgbClr val="B7F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565392" y="3808476"/>
            <a:ext cx="4544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Q5 · 역할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65392" y="4192524"/>
            <a:ext cx="4544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못 하고 사람이 할 일은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565392" y="4704588"/>
            <a:ext cx="4544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 · 기준 · 검증 · 판단 · 책임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9808" y="553212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다섯 질문의 답이 곧 기초 1의 출발선입니다 — 실습 1(도구 비교)에서 만납니다.</a:t>
            </a:r>
            <a:endParaRPr lang="en-US" sz="2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7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123444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확률 생성기.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49808" y="2039112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사람은 검증자이자 결재자.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" y="2843784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정확히 시키고, 결과를 검증하는 사람이 됩니다.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3913632"/>
            <a:ext cx="10469880" cy="0"/>
          </a:xfrm>
          <a:prstGeom prst="line">
            <a:avLst/>
          </a:prstGeom>
          <a:noFill/>
          <a:ln w="12700">
            <a:solidFill>
              <a:srgbClr val="0B6B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4315968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단계 · 기초 1 · 문서 3시간</a:t>
            </a:r>
            <a:endParaRPr lang="en-US" sz="2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6개 — 회의 메모 한 장이 기관장 보고서로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0" y="493776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감사합니다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5833872"/>
            <a:ext cx="10597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A9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그림·표는 원 강의자료를 그대로 옮겼으며, 모델·통계는 2026년 9월 기준 공개 자료로 갱신했습니다. 통합 특강(90분·63장)은 별도 파일.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2026-09-09T09:51:29Z</dcterms:created>
  <dcterms:modified xsi:type="dcterms:W3CDTF">2026-09-09T09:51:29Z</dcterms:modified>
</cp:coreProperties>
</file>