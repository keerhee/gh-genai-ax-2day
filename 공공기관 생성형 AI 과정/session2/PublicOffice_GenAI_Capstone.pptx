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607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어긋난 곳을 찾고</a:t>
            </a:r>
            <a:endParaRPr lang="en-US" sz="4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할지 정합니다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352044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 · 중급 캡스톤 · 60~75분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3504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생활안전 미대응 지도 · 공개데이터 지도 웹앱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59618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385048" y="960120"/>
            <a:ext cx="2478024" cy="4087368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385048" y="960120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공개데이터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5048" y="1544030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5048" y="212793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조치 유형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5048" y="271184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85048" y="329575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 웹앱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5048" y="387966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85048" y="4463578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예산안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CAPSTONE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중급 본과정을 일찍 끝낸 팀을 위한 확장 과제입니다. 40분만 남아도 4단계까지로 완결됩니다.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435608" y="2386584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578608" y="201168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과제와 데이터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19088" y="2011680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미션 3종 · 공개데이터 조달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9088" y="2386584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data.go.kr · LOCALDATA · 스냅샷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280720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8368" y="2852928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435608" y="3227832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578608" y="285292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여섯 단계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19088" y="2852928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매핑 → 규칙 → 앱 → 개선 → 예산 → 감사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19088" y="3227832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단계별 프롬프트 전문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" y="364845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58368" y="3694176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435608" y="4069080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578608" y="3694176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 가이드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19088" y="3694176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타임박스 · 역할 · 채점 루브릭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19088" y="4069080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75분 · 4인 · 100점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8368" y="448970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58368" y="4535424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435608" y="4910328"/>
            <a:ext cx="822960" cy="0"/>
          </a:xfrm>
          <a:prstGeom prst="line">
            <a:avLst/>
          </a:prstGeom>
          <a:noFill/>
          <a:ln w="31750">
            <a:solidFill>
              <a:srgbClr val="B7F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578608" y="453542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모범답안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19088" y="4535424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설계·결과·예산·검산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19088" y="4910328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유형 분해 · 상위 5곳 · 4,660만원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844253" y="5623560"/>
            <a:ext cx="8409005" cy="0"/>
          </a:xfrm>
          <a:prstGeom prst="line">
            <a:avLst/>
          </a:prstGeom>
          <a:noFill/>
          <a:ln w="4445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58368" y="5769864"/>
            <a:ext cx="10780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공개데이터 3종 → 조치 유형 판정 → 지도 웹앱 → 예산 배정 → Final Audit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CAPSTONE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위험한 곳을 알아도, 무엇을 할지에서 막힙니다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캡스톤이 다루는 것은 지도 그리기가 아니라 그다음 판단입니다.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883664"/>
            <a:ext cx="10780776" cy="2523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60704" y="2084832"/>
            <a:ext cx="99761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어린이보호구역 32곳이 있습니다. 작년 보행사고 24건이 어디서 났는지도 압니다. 예산 5천만원도 나왔습니다.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0704" y="2834640"/>
            <a:ext cx="99761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그런데 회의에서 막힙니다. 사고 난 곳에 카메라를 놓자고 하면 이미 한 대 있는데 왜 또 놓느냐는 질문이 돌아옵니다. 반대로 46대가 있는 동네는 충분한 것 아니냐고 합니다.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60704" y="3584448"/>
            <a:ext cx="99761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세어 보면 시설이 아예 없는 곳은 11곳입니다. 그런데 목적과 노후를 따지면 19곳이 됩니다. 같은 데이터에서 두 숫자가 나옵니다.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4553712"/>
            <a:ext cx="10780776" cy="1060704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60704" y="4700016"/>
            <a:ext cx="99761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어디가 위험한가는 데이터가 답합니다. 무엇을 할 것인가는 규칙을 정해야 답이 나옵니다.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60704" y="5065776"/>
            <a:ext cx="99761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캡스톤은 그 규칙을 팀이 직접 정하고, 지점마다 다섯 유형 중 하나를 붙이는 과제입니다.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" y="5742432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지도를 그리는 데 30분, 무엇을 할지 정하는 데 나머지를 씁니다.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CAPSTONE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본과정은 주어진 폴더를, 캡스톤은 스스로 구한 데이터를 다룹니다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55648"/>
            <a:ext cx="48463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592824" y="1755648"/>
            <a:ext cx="4846320" cy="361188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011680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본과정 A–L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2468880"/>
            <a:ext cx="41879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준비된 폴더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24128" y="3072384"/>
            <a:ext cx="4096512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파일이 이미 들어 있다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컬럼도 정리돼 있다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정답이 정해져 있다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87552" y="4069080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배우는 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4343400"/>
            <a:ext cx="41879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흐름의 골격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22008" y="2011680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캡스톤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22008" y="2468880"/>
            <a:ext cx="41879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스스로 구한 데이터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958584" y="3072384"/>
            <a:ext cx="4096512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직접 내려받는다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컬럼명이 제각각이다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정답이 없다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22008" y="4069080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배우는 것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22008" y="4343400"/>
            <a:ext cx="41879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업무로 옮기는 힘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9808" y="5559552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컬럼명이 다른 파일 앞에서 멈추지 않는 것이 이 과제의 진짜 목표입니다.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CAPSTONE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7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수요와 대응이 어긋난 곳을 찾고, 곳마다 무엇을 할지 정합니다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92224"/>
            <a:ext cx="334365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8755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미대응 지도 웹앱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2944368"/>
            <a:ext cx="841248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형식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10512" y="2944368"/>
            <a:ext cx="193548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HTML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3422142"/>
            <a:ext cx="841248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10512" y="3422142"/>
            <a:ext cx="193548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CSV 2~4개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3899916"/>
            <a:ext cx="841248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10512" y="3899916"/>
            <a:ext cx="193548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지도·유형·순위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4377690"/>
            <a:ext cx="841248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10512" y="4377690"/>
            <a:ext cx="193548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CSV만 갈아 끼움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376928" y="1792224"/>
            <a:ext cx="334365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0611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 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611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1페이지 보고서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4632960" y="2944368"/>
            <a:ext cx="841248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형식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29072" y="2944368"/>
            <a:ext cx="193548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md 또는 docx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32960" y="3422142"/>
            <a:ext cx="841248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29072" y="3422142"/>
            <a:ext cx="193548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유형별 상위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632960" y="3899916"/>
            <a:ext cx="841248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필수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29072" y="3899916"/>
            <a:ext cx="193548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결정 요청 1문장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632960" y="4377690"/>
            <a:ext cx="841248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29072" y="4377690"/>
            <a:ext cx="193548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사실/추정/제안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095488" y="1792224"/>
            <a:ext cx="3343656" cy="338328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42467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 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2467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 Audit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8351520" y="2944368"/>
            <a:ext cx="841248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형식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247632" y="2944368"/>
            <a:ext cx="193548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검산표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351520" y="3422142"/>
            <a:ext cx="841248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대상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47632" y="3422142"/>
            <a:ext cx="193548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화면의 모든 숫자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8351520" y="3899916"/>
            <a:ext cx="841248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247632" y="3899916"/>
            <a:ext cx="193548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재계산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351520" y="4377690"/>
            <a:ext cx="841248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판정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247632" y="4377690"/>
            <a:ext cx="193548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 가능 여부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49808" y="5541264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셋 중 하나라도 빠지면 캡스톤은 미완성입니다.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CAPSTONE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“시설이 없다”는 다섯 경우 중 하나일 뿐입니다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표가 캡스톤의 전부입니다. 유형이 다르면 써야 할 돈도 다릅니다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6654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16736" y="2066544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79976" y="206654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데이터에서 어떻게 아나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86216" y="2066544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해야 할 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2523744"/>
            <a:ext cx="658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16736" y="2523744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위험한데 아무것도 없다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379976" y="2523744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반경 내 시설 0 + 사고 이력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86216" y="2523744"/>
            <a:ext cx="2852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신설 · 350만원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8368" y="298094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8368" y="3127248"/>
            <a:ext cx="658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316736" y="3127248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있긴 한데 딴 데를 본다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379976" y="3127248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시설은 있으나 목적 불일치 또는 노후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8586216" y="3127248"/>
            <a:ext cx="2852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 · 120만원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58368" y="358444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58368" y="3730752"/>
            <a:ext cx="658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316736" y="3730752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시설도 맞는데 사고가 계속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4379976" y="3730752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쓸 수 있는 시설이 있는데 사고 반복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8586216" y="3730752"/>
            <a:ext cx="2852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운영·인력 · 180만원</a:t>
            </a:r>
            <a:endParaRPr lang="en-US" sz="1850" dirty="0"/>
          </a:p>
        </p:txBody>
      </p:sp>
      <p:sp>
        <p:nvSpPr>
          <p:cNvPr id="26" name="Shape 24"/>
          <p:cNvSpPr/>
          <p:nvPr/>
        </p:nvSpPr>
        <p:spPr>
          <a:xfrm>
            <a:off x="658368" y="418795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58368" y="4334256"/>
            <a:ext cx="658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316736" y="4334256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시설 없지만 위험도 낮다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4379976" y="4334256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아동 인구 적고 사고 0건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586216" y="4334256"/>
            <a:ext cx="2852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이번엔 안 한다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58368" y="479145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58368" y="4937760"/>
            <a:ext cx="658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1316736" y="4937760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 없는데 시설이 몰렸다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4379976" y="4937760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수요 낮은데 시설 2개소 이상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586216" y="4937760"/>
            <a:ext cx="2852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다음에 재배치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58368" y="539496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49808" y="5522976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①만 보고 “없으니 놓자”로 가면, 예산의 절반을 잘못 씁니다.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749808" y="599846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학교에 소화기가 30개 있어도 급식실 층에 없거나 2014년에 넣어 두고 안 봤다면 “충분하다”가 아닙니다.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CAPSTONE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팀마다 미션 하나를 고릅니다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남은 시간이 45분 이하면 A 또는 B를 권장합니다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19456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64408" y="2194560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수요지점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13248" y="219456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시설(공급)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44968" y="2194560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사건·수요 신호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93808" y="2194560"/>
            <a:ext cx="1545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난이도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26517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· 어린이 보행안전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3264408" y="26517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어린이보호구역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5413248" y="26517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방범·보호 CCTV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744968" y="26517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어린이 보행사고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893808" y="2651760"/>
            <a:ext cx="15453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보통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58368" y="351129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58368" y="3657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 · 생활폐기물 거점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3264408" y="36576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원룸·상가 밀집지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13248" y="36576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재활용센터·수거함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744968" y="36576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무단투기 민원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893808" y="3657600"/>
            <a:ext cx="15453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보통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8368" y="451713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58368" y="46634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 · 우리 부서 업무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3264408" y="46634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팀이 정의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13248" y="46634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팀이 정의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744968" y="46634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팀이 정의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893808" y="4663440"/>
            <a:ext cx="15453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높음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58368" y="55229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49808" y="5577840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미션 C는 데이터 조달에 시간이 더 듭니다. 대신 그대로 부서 업무가 되므로 시간이 넉넉하면 가장 값집니다.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9808" y="596188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모범답안은 미션 A 기준으로 제시합니다. 구조는 B·C에도 그대로 적용됩니다.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CAPSTONE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인터넷이 되면 진짜 공개데이터로 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Track A · 앞의 네 줄은 모두 “표준데이터”이며 무료이고 좌표를 포함합니다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103120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용도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41448" y="2103120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10728" y="2103120"/>
            <a:ext cx="3328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제공처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560320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수요지점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441448" y="2560320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전국어린이보호구역 · 전국초중등학교위치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0728" y="2560320"/>
            <a:ext cx="3328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공공데이터포털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303580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8368" y="318211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시설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441448" y="3182112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전국CCTV · 전국재활용센터 · 전국도시공원정보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8110728" y="3182112"/>
            <a:ext cx="3328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공공데이터포털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" y="365760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58368" y="3803904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인구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441448" y="3803904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지역별(행정동) 연령별 주민등록 인구수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110728" y="3803904"/>
            <a:ext cx="3328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공공데이터포털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8368" y="427939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8368" y="4425696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업소·인허가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2441448" y="4425696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지방행정 인허가데이터 (업종별 좌표 포함)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110728" y="4425696"/>
            <a:ext cx="3328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LOCALDATA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490118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58368" y="504748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 한정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2441448" y="5047488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생활인구 · 민원 · 안전시설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110728" y="5047488"/>
            <a:ext cx="3328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 열린데이터광장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58368" y="55229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49808" y="563270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data.go.kr · localdata.go.kr · data.seoul.go.kr — 정확한 주소는 배포 자료의 프로젝트 가이드에 있습니다.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49808" y="601675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전국 파일은 큽니다. 반드시 관할 시군구로 먼저 필터링한 뒤 작업합니다.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CAPSTONE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공개데이터에서 팀이 멈추는 지점은 늘 같은 세 곳입니다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55648"/>
            <a:ext cx="33436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87552" y="2011680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함정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39572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컬럼명이 제각각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24128" y="2907792"/>
            <a:ext cx="26487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어떤 파일은 위도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어떤 파일은 WGS84위도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어떤 파일은 Y좌표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76928" y="1755648"/>
            <a:ext cx="33436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06112" y="2011680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함정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6112" y="239572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인코딩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742688" y="2907792"/>
            <a:ext cx="26487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CP949 파일이 아직 많다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글자가 깨지면 저장 먼저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UTF-8로 다시 저장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95488" y="1755648"/>
            <a:ext cx="3343656" cy="310896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424672" y="2011680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함정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24672" y="239572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크기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461248" y="2907792"/>
            <a:ext cx="26487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전국 데이터는 수십만 행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관할 시군구로 먼저 필터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그다음에 분석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9808" y="5358384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그래서 1단계가 “컬럼명을 가정하지 말고 헤더부터 읽어라”입니다.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9808" y="576072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컬럼명을 가정하고 짠 코드는 첫 실행에서 반드시 멈춥니다.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CAPSTONE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내부망이거나 시간이 없으면 준비된 스냅샷을 씁니다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Track B · 표준데이터의 컬럼 표기를 모사한 합성 데이터 (좌표는 가상)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19456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36008" y="219456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13648" y="219456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482328" y="2194560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265176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child_safety_zones.csv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36008" y="265176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어린이보호구역 — 시설명·종류·좌표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13648" y="2651760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32행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482328" y="2651760"/>
            <a:ext cx="1956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수요지점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8368" y="316382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8368" y="331012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cctv.csv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636008" y="331012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CCTV — 설치목적·대수·화소·좌표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13648" y="3310128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139행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82328" y="3310128"/>
            <a:ext cx="1956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시설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58368" y="382219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58368" y="3968496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population_by_dong.csv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636008" y="3968496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행정동 인구 — 총인구·0~12세·좌표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613648" y="3968496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7행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482328" y="3968496"/>
            <a:ext cx="1956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가중치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448056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58368" y="4626864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pedestrian_accidents.csv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636008" y="4626864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어린이 보행사고 — 연도·심각도·좌표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13648" y="4626864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24행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482328" y="4626864"/>
            <a:ext cx="1956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사건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58368" y="513892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58368" y="5285232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project_conditions.txt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4636008" y="5285232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사업조건 — 예산 5천만원 · 단가 8종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8613648" y="5285232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텍스트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482328" y="5285232"/>
            <a:ext cx="1956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예산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58368" y="579729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49808" y="5669280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Track A로 갈아탈 때 프롬프트는 그대로 두고 파일만 바꿉니다. 그게 이 설계의 목적입니다.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CAPSTONE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75분을 여섯 칸으로 자릅니다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4인 기준 · 앱 담당이 생성하는 동안 나머지는 규칙표와 보고서 뼈대를 씁니다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19456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50008" y="219456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90488" y="219456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756648" y="2194560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265176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0:00–0:10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350008" y="26517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 · 데이터 조달과 헤더 매핑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190488" y="265176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매핑표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756648" y="2651760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8368" y="316382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8368" y="3310128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0:10–0:20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350008" y="331012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 · 공백 판정 규칙 확정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90488" y="331012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규칙표(반경·목적·가중치)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756648" y="331012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58368" y="382219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58368" y="3968496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0:20–0:35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350008" y="396849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 · 웹앱 PRD 작성과 생성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190488" y="396849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gapmap.html 1차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756648" y="3968496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앱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448056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58368" y="4626864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0:35–0:50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2350008" y="462686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 · 개선 — 필터·상세·내보내기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6190488" y="462686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gapmap.html 2차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756648" y="4626864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앱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58368" y="513892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58368" y="5285232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0:50–1:10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2350008" y="528523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5·6 · 예산·반론·보고·감사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6190488" y="528523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포트폴리오 3안 · 검산표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756648" y="5285232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58368" y="579729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49808" y="5669280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발표는 3분 + 질의 2분. 시연에서 목적 필터를 껐다 켜는 장면 하나가 발표의 절반입니다.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여섯 단계 — 매핑에서 감사까지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프롬프트는 그대로 복사해 쓰고, 파일명과 관할 지역만 바꾼다.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CAPSTONE PROMPT · STEP 1 · 데이터 조달과 헤더 매핑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 — 컬럼명을 가정하지 말고 헤더부터 읽게 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 폴더 CSV 4종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매핑표 4열 + 제외 행 목록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2940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공개데이터를 실무용으로 정리하는 담당자다. 컬럼명을 추측하지 않는다.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13671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177679"/>
            <a:ext cx="10085832" cy="5605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input/ 폴더에 수요지점·시설·인구·사건 CSV가 있다. 기관이 달라 컬럼명과 인코딩이 제각각이다.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72913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793140"/>
            <a:ext cx="10085832" cy="18935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각 파일의 헤더와 첫 3행을 그대로 출력하라. 글자가 깨지면 인코딩을 바꿔 다시 읽어라.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파일마다 위도·경도·이름·행정동·목적·수량에 해당하는 컬럼을 찾아 매핑표를 만들어라. 후보가 여러 개면 값의 범위를 보고 판정하라(위도 33~39, 경도 124~132).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좌표가 비었거나 범위를 벗어난 행을 세고 목록으로 남겨라. 관할 밖 행은 필터 조건을 제안하라.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파일 사이를 잇는 키(행정동명 표기 차이 포함)를 정리하라. 결과를 working/mapping.md로 저장하라.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677508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4741516"/>
            <a:ext cx="10085832" cy="2940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· 원본컬럼 · 표준의미 · 판정근거 4열 매핑표 + 제외 행 목록.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502638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090394"/>
            <a:ext cx="10085832" cy="5605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컬럼명을 가정하고 코드를 먼저 쓰지 마라. 좌표 이상치를 임의로 고치지 말고 제외하고 건수를 밝혀라.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Track A에서는 이 단계가 제일 오래 걸립니다. 여기를 건너뛰면 3단계 앱 생성이 첫 실행에서 멈춥니다.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CAPSTONE PROMPT · STEP 2 · 조치 유형 판정 규칙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 — 앱을 만들기 전에 다섯 유형을 숫자로 정의합니다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매핑된 좌표 데이터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다섯 유형 판정 규칙표 + 긴급도 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2940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시설 배치 기준을 설계하는 담당자다. 기준의 근거를 문장으로 남긴다.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13671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177679"/>
            <a:ext cx="10085832" cy="2940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좌표 매핑이 끝났다. 어느 지점이 어떤 유형인지 팀이 확정해야 한다.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46255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526558"/>
            <a:ext cx="10085832" cy="24266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커버 반경을 100·150·300m로 두고 각각 몇 곳이 미대응이 되는지 비교하라.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시설의 목적·용도 값을 나열하고 무엇을 “보호 기능 시설”로 인정할지 정하라. 설치연도·화소로 “있어도 못 쓰는” 기준도 정하라.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수요지점을 다섯 유형으로 나누는 규칙을 숫자로 써라 — ①신설(시설 0) ②개선(목적 불일치·노후) ③운영(시설은 맞는데 사고 지속) ④관찰(수요 낮음) ⑤재배치(수요 낮은데 시설 과잉).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긴급도 점수식을 제안하라. 단, 대응 부족 여부는 후보 진입 조건으로만 쓰고 순위에는 넣지 마라.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각 숫자의 근거를 한 줄씩 적어라.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결과를 working/rule.md로 저장하고 멈춰 사람의 확정을 기다려라.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94409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5008098"/>
            <a:ext cx="10085832" cy="2940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반경별 비교표 → 목적·노후 인정 기준 → 다섯 유형 판정 규칙표 → 긴급도 점수식 → 근거 목록.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529296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356977"/>
            <a:ext cx="10085832" cy="2940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기준을 단정하지 말고 선택지와 결과를 함께 내라.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“왜 150m입니까”와 “왜 여기는 신설이 아니라 개선입니까”. 발표 질문의 대부분이 이 두 개입니다.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CAPSTONE PROMPT · STEP 3 · 웹앱 PRD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 — 이 한 장으로 지도 웹앱이 생성됩니다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확정된 판정 규칙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gapmap.html 1차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425696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사내용 지도 웹앱을 만드는 파트너다. 외부 라이브러리 없이 HTML 하나로 만든다.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30552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10085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확정된 규칙(반경·목적·노후·유형·긴급도)이 있다. 사용자는 CSV를 올려 유형을 확인하고 예산을 검토한다.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779776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843784"/>
            <a:ext cx="10085832" cy="2295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화면을 다섯 영역으로 만든다.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1) 데이터 적재 — CSV 네 칸. 헤더를 읽어 자동 매핑하고 드롭다운으로 고칠 수 있게 한다.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2) 판정 규칙 — 반경·사건 반경·노후 기준·수요 임계·가중치·목적 필터 칩. 바꾸면 즉시 재계산.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3) KPI 카드 5개 — 수요지점 수와 조치 유형 ①~⑤ 개수.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4) 지도 — 웹 메르카토르, 커버 반경을 원으로. &lt;점의 색은 조치 유형&gt;으로 한다(①빨강 ②주황 ③파랑 적정 초록 ④회색 ⑤청회색). 시설·사건은 연한 점. 휠 확대·드래그·클릭 선택.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5) 우선 후보 표 — 조치 유형 열과 긴급도 열을 함께. 행을 누르면 유형별 권고가 나온다.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5129784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5193792"/>
            <a:ext cx="100858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UI · 단일 HTML · 반응형. 거리는 Haversine.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5495544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559552"/>
            <a:ext cx="100858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데이터를 서버로 보내지 마라. 개인정보 컬럼은 표시하지 마라. 배경 지도는 기본 끔(내부망).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CAPSTONE PROMPT · STEP 4 · 개선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 — 한 번에 하나씩 붙여 실무에서 쓰이게 만듭니다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gapmap.html 1차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gapmap.html 2차 (예산·Audit)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웹앱을 개선하는 파트너다. 하나를 끝내고 화면이 안 깨졌는지 확인한 뒤 다음으로 간다.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35886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199894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1차 앱이 동작 중이다. 실제 사용자는 예산을 짜야 하고, 결과를 회의에서 설명해야 한다.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506980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570988"/>
            <a:ext cx="10085832" cy="20490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예산 패널 — 사업조건의 단가와 수량 입력을 두고 총액을 실시간 계산한다. 한도 초과와 연내 집행 한도 위반을 경고 문구로 띄운다.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Audit 패널 — 화면의 모든 숫자에 대해 계산식·원천파일·제외 행 수를 펼쳐 볼 수 있게 한다.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내보내기 — 우선 후보 목록과 검산표를 각각 CSV로 저장한다.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선택 지점 상세에 권고 문구를 자동 생성하되, 단정하지 말고 현장 확인이 필요한 항목을 함께 적는다.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개선마다 무엇이 바뀌었는지 한 줄로 요약하라.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610862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467487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화면 구성과 색 체계를 유지하고 추가 UI만 끼워 넣는다.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981956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04596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확정된 규칙 숫자를 바꾸지 마라. 기존 기능이 사라지면 안 된다. 세 가지를 한 번에 반영하지 마라.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여기까지가 40분 코스의 종점입니다. 시간이 없으면 5·6단계는 말로 정리하고 발표해도 됩니다.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CAPSTONE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쓸 수 있는 수단은 여덟 가지입니다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단가표가 그대로 조치 유형 ①②③과 맞물립니다. 카메라는 그중 둘뿐입니다.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92224"/>
            <a:ext cx="3343656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신설 계열 · 2종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새로 놓는다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4128" y="2944368"/>
            <a:ext cx="26487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무인 단속장비 1,800만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CCTV 신설 350만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87552" y="4919472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대당 · 영향평가 6주 · 연내 5대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76928" y="1792224"/>
            <a:ext cx="3343656" cy="3657600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0611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개선 계열 · 5종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611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있는 것을 고친다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42688" y="2944368"/>
            <a:ext cx="26487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보행신호기 250만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보도 조명 200만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과속방지턱 120만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CCTV 개선 120만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옐로카펫 80만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06112" y="4919472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개소당 · CCTV 개선만 대당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95488" y="1792224"/>
            <a:ext cx="3343656" cy="365760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42467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운영 계열 · 1종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2467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사람을 둔다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61248" y="2944368"/>
            <a:ext cx="26487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안전지도 인력 180만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24672" y="4919472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인·월당 · 2개월 이상 연속 배치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5632704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제약 6 — 시설 신설만으로 구성된 안은 제출할 수 없습니다. 오른쪽 한 칸을 반드시 넣어야 합니다.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49808" y="605332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한 개소에 세 가지 이상 중복 배정 금지 · 한 행정동에 예산 40% 초과 금지.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CAPSTONE PROMPT · STEP 5 · 예산과 Red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9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 — 상위 지점에 예산을 붙이고, 그 안을 스스로 반박합니다</a:t>
            </a:r>
            <a:endParaRPr lang="en-US" sz="29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상위 지점 + 사업조건 5천만원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포트폴리오 3안 + Red Team 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예산 제약 아래 대안을 설계하고, 이어서 그 대안을 심사하는 감사관 역할을 겸한다.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3588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199894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input/사업조건 파일에 총액·단가·제약이 있다. 앱이 뽑은 우선 후보 상위 지점이 근거다.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50698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570988"/>
            <a:ext cx="10085832" cy="20490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제약을 목록으로 정리하고 각 제약이 대안을 어떻게 제한하는지 한 줄로 적어라.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조치 유형별 개수(①신설 ②개선 ③운영·인력)에서 출발해 포트폴리오 3안을 만들어라. 유형이 다르면 단가가 다르다는 점을 반영하라.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안마다 항목·수량·단가·소계·총액과 배정 지점을 표로 내고, 총액·연내 한도·행정동 편중을 각각 계산해 지켰는지 보여라.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감사관 입장으로 바꿔, 각 안이 기대는 가정을 꺼내고 데이터로 확인되지 않은 것을 표시하라.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각 안이 실패할 경로 두 가지와 그때 나타날 조기 신호를 적어라.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61086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467487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제약 목록 → 안별 예산표 3개 → 제약 준수 계산 → 가정·확인여부·실패경로·조기신호 4열 표.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98195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04596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총액 초과 안을 내지 마라. 시설 신설만으로 구성된 안을 내지 마라 — ②개선과 ③운영·인력을 반드시 포함한다. 효과를 숫자로 단정하지 마라.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“대체로 타당하다”는 결론은 감점 대상입니다. 반박할 근거가 없으면 없다고 명시합니다.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CAPSTONE PROMPT · STEP 6 · 보고서와 Final Audit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 — 화면의 숫자를 원본에서 다시 세고 한 장으로 줄입니다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앱 화면 + 원본 CSV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1페이지 보고서 + 검산표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보고서를 쓰는 기획 담당자이자, 배포 전 숫자를 검증하는 감사 담당자다.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3588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199894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앱 화면·예산안·Red Team 검토가 준비됐다. 기관장에게 올릴 한 장과 검산표가 필요하다.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50698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570988"/>
            <a:ext cx="10085832" cy="20490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인용할 숫자를 원본 CSV에서 다시 계산한 뒤 보고서를 써라.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제목 → 핵심요약 3줄 → 공백 현황표 → 상위 5곳 → 예산안 → 한계 → 의사결정 요청 순서로 한 장을 작성하라.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각 문장 앞에 [사실]·[추정]·[제안]을 붙여라.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보고값 · 재계산값 · 일치여부 · 원천파일 · 계산방법 5열 검산표를 만들고 배포 가능 여부를 한 줄로 판정하라.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좌표 결측으로 지도에서 빠진 건수를 반드시 본문에 밝혀라.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61086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467487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1페이지 보고서 + 검산표. 모든 숫자 옆에 (원천파일 · 계산식) 병기.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98195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04596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앞 단계에서 계산되지 않은 숫자를 새로 만들지 마라. 불일치를 임의로 맞추지 말고 원인을 분류하라.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검산표에서 불일치가 하나라도 남으면 배포 판정은 “불가”입니다. 그 판단까지가 산출물입니다.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 가이드와 모범답안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채점 기준을 먼저 알려 준다. 무엇으로 평가받는지 알아야 시간을 어디에 쓸지 정한다.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CAPSTONE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100점을 이렇게 나눕니다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지도의 미관에는 배점이 없습니다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8483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21608" y="208483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27448" y="2084832"/>
            <a:ext cx="67116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만점 기준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542032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조치 유형 판정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721608" y="2542032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27448" y="2542032"/>
            <a:ext cx="67116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다섯 유형을 숫자 규칙으로 나누고 지점마다 유형이 붙었다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8368" y="301752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8368" y="3163824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 웹앱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721608" y="3163824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27448" y="3163824"/>
            <a:ext cx="67116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CSV 교체만으로 다시 돌고 색이 곧 조치 유형이다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" y="363931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58368" y="3785616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예산 현실성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721608" y="378561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27448" y="3785616"/>
            <a:ext cx="67116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유형별 단가를 반영하고 ②개선·③운영이 포함됐다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8368" y="426110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8368" y="4407408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긴급도 논리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3721608" y="440740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727448" y="4407408"/>
            <a:ext cx="67116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건수가 아니라 사건 이력과 노출 규모로 순위를 냈다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488289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58368" y="5029200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매핑 · 검증 · 개인정보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3721608" y="502920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727448" y="5029200"/>
            <a:ext cx="67116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헤더에서 매핑 · Audit 표 · 식별정보 없음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58368" y="550468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49808" y="5577840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감점 — 시설 신설로만 결론 −15 · 반경 근거 없음 −5 · 목적·노후 미반영 −10 · 총액 초과 −10 · 좌표 결측 미공개 −5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9808" y="596188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배점의 절반이 “유형을 어떻게 나눴나”에 있습니다. 화면부터 만들면 여기서 잃습니다.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CAPSTONE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캡스톤에서 팀이 점수를 잃는 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55648"/>
            <a:ext cx="241401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87552" y="201168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 1 · 최다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395728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없으니 놓자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24128" y="2907792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미대응 = 신설 직행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②③을 못 본다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447288" y="1755648"/>
            <a:ext cx="241401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776472" y="201168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2395728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반경을 안 정함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813048" y="2907792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100m ≠ 300m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먼저 정한다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36208" y="1755648"/>
            <a:ext cx="241401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565392" y="201168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65392" y="2395728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목적·노후 무시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01968" y="2907792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단속도 커버로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2014년도 커버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025128" y="1755648"/>
            <a:ext cx="2414016" cy="274320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354312" y="201168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 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54312" y="2395728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건수만 본다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390888" y="2907792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610명과 4,400명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무게가 다르다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9808" y="49377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넷 다 앱을 만들기 전에 결정했어야 할 것들입니다.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49808" y="534009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 1이 가장 흔하고, 예산 절반을 잘못 쓰게 만듭니다.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9808" y="587044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“미대응 19곳”을 보고 “CCTV 19대”로 넘어가는 순간, ②개선 9곳과 ③운영·인력 5곳이 사라집니다.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CAPSTONE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모범답안 ① — 앱을 만들기 전에 못 박은 여섯 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미션 A · Track B 기준. 이 표가 답안의 절반입니다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48256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32888" y="2048256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값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44768" y="2048256"/>
            <a:ext cx="5294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505456"/>
            <a:ext cx="1874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커버 반경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532888" y="2505456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150 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144768" y="2505456"/>
            <a:ext cx="5294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보호구역 300m의 절반. 보수적으로 잡음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296265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8368" y="3108960"/>
            <a:ext cx="1874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인정 목적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532888" y="3108960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생활방범 · 어린이보호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44768" y="3108960"/>
            <a:ext cx="5294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단속 카메라는 차로를 향해 보행 구간을 안 담는다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58368" y="356616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58368" y="3712464"/>
            <a:ext cx="1874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노후 기준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532888" y="3712464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2017년 이전 · 130만 화소 미만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144768" y="3712464"/>
            <a:ext cx="5294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야간·역광에서 사람 식별이 어렵다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8368" y="416966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8368" y="4315968"/>
            <a:ext cx="1874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수요 판정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2532888" y="4315968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사건 1건 · 아동지수 0.30 이상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6144768" y="4315968"/>
            <a:ext cx="5294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둘 중 하나도 없으면 예산 대상이 아니다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477316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58368" y="4919472"/>
            <a:ext cx="1874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긴급도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2532888" y="4919472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사건×20 + 아동지수×40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144768" y="4919472"/>
            <a:ext cx="5294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대응 부족은 후보 조건일 뿐, 순위는 위험이 정한다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8368" y="537667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49808" y="5687568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“무엇을 할지”는 유형이 정하고, “얼마나 급한지”는 긴급도가 정합니다. 둘을 섞지 않습니다.</a:t>
            </a:r>
            <a:endParaRPr lang="en-US" sz="1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CAPSTONE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모범답안 ② — 32곳이 다섯 유형으로 갈립니다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92224"/>
            <a:ext cx="250317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8368" y="1993392"/>
            <a:ext cx="25031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신설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2304288"/>
            <a:ext cx="250317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10곳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17570" y="1792224"/>
            <a:ext cx="250317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417570" y="1993392"/>
            <a:ext cx="25031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개선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17570" y="2304288"/>
            <a:ext cx="250317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9곳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76772" y="1792224"/>
            <a:ext cx="250317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176772" y="1993392"/>
            <a:ext cx="25031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운영·인력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76772" y="2304288"/>
            <a:ext cx="250317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5곳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935974" y="1792224"/>
            <a:ext cx="250317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935974" y="1993392"/>
            <a:ext cx="25031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적정 · ④관찰 · ⑤재배치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935974" y="2304288"/>
            <a:ext cx="250317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 · 1 · 1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58368" y="3108960"/>
            <a:ext cx="5202936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87552" y="3364992"/>
            <a:ext cx="4544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 없이 세면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7552" y="3749040"/>
            <a:ext cx="4544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시설 없는 곳 11곳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24128" y="4261104"/>
            <a:ext cx="45079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“대수는 충분하다”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가온동 CCTV 46대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236208" y="3108960"/>
            <a:ext cx="5202936" cy="224028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565392" y="3364992"/>
            <a:ext cx="4544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목적·노후를 반영하면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65392" y="3749040"/>
            <a:ext cx="4544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①+② 합계 19곳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601968" y="4261104"/>
            <a:ext cx="45079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대부분 교통·주정차 단속용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2014~2016년 41만 화소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49808" y="5541264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데이터에서 11과 19가 나옵니다. 무엇을 시설로 인정하느냐의 차이입니다.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CAPSTONE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모범답안 ③ — 점의 색이 곧 “무엇을 해야 하는가”입니다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73936"/>
            <a:ext cx="278892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87552" y="2029968"/>
            <a:ext cx="2130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 읽는 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2487168"/>
            <a:ext cx="21305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색 = 조치 유형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24128" y="3090672"/>
            <a:ext cx="20391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빨강 = ①신설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주황 = ②개선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파랑 = ③운영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4279392"/>
            <a:ext cx="2130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함께 표시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4553712"/>
            <a:ext cx="21305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지점 이름 · 행정동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50599" y="1773936"/>
            <a:ext cx="6132706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fig_app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599" y="1773936"/>
            <a:ext cx="6132706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CAPSTONE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모범답안 ④ — 상위 다섯 곳의 조치가 서로 다릅니다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1~4위는 신설, 5위는 시설이 있는데도 사고가 계속되는 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84832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순위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27048" y="2084832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07408" y="208483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24728" y="208483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조치 유형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73568" y="208483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62288" y="208483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아동지수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79608" y="2084832"/>
            <a:ext cx="859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긴급도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2542032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527048" y="254203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한빛제2어린이집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07408" y="2542032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다솜동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824728" y="2542032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신설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973568" y="254203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6건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62288" y="2542032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0.47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579608" y="2542032"/>
            <a:ext cx="859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138.8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58368" y="299923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8368" y="3145536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527048" y="3145536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한빛달유치원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407408" y="3145536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다솜동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824728" y="3145536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신설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973568" y="314553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5건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162288" y="3145536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0.47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579608" y="3145536"/>
            <a:ext cx="859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118.8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658368" y="360273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58368" y="3749040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1527048" y="3749040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한빛별초등학교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407408" y="3749040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다솜동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824728" y="374904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신설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973568" y="374904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4건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162288" y="3749040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0.47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0579608" y="3749040"/>
            <a:ext cx="859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98.8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658368" y="420624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58368" y="4352544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1527048" y="4352544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한빛어린이집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407408" y="4352544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다솜동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824728" y="4352544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신설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973568" y="4352544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4건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9162288" y="4352544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0.47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10579608" y="4352544"/>
            <a:ext cx="859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98.8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658368" y="480974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58368" y="4956048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900" dirty="0"/>
          </a:p>
        </p:txBody>
      </p:sp>
      <p:sp>
        <p:nvSpPr>
          <p:cNvPr id="48" name="Text 46"/>
          <p:cNvSpPr/>
          <p:nvPr/>
        </p:nvSpPr>
        <p:spPr>
          <a:xfrm>
            <a:off x="1527048" y="4956048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한빛새어린이집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4407408" y="495604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가온동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824728" y="4956048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운영·인력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7973568" y="495604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2건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9162288" y="495604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0.89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10579608" y="4956048"/>
            <a:ext cx="859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75.6</a:t>
            </a:r>
            <a:endParaRPr lang="en-US" sz="2000" dirty="0"/>
          </a:p>
        </p:txBody>
      </p:sp>
      <p:sp>
        <p:nvSpPr>
          <p:cNvPr id="54" name="Shape 52"/>
          <p:cNvSpPr/>
          <p:nvPr/>
        </p:nvSpPr>
        <p:spPr>
          <a:xfrm>
            <a:off x="658368" y="541324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749808" y="554126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5위는 반경 안에 쓸 수 있는 CCTV가 1대 있는데도 사고가 납니다. 카메라를 더 놓는 것은 답이 아닙니다.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49808" y="5925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마루동은 ⑤재배치 1곳·④관찰 1곳 — 아동 610명에 사고 0건인데 방범 CCTV 2대가 붙어 있습니다.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CAPSTONE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모범답안 ⑤ — 조치 유형이 그대로 예산 항목이 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4,660만원 / 한도 5,000만원 · 연내 집행 · 행정동 편중 40% 이내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48256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35608" y="2048256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38928" y="2048256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64808" y="2048256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96528" y="2048256"/>
            <a:ext cx="2642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배정 위치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2505456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435608" y="2505456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생활방범 CCTV 신설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38928" y="2505456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4대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64808" y="250545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14,000,000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796528" y="2505456"/>
            <a:ext cx="2642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다솜동 3 · 라온동 1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658368" y="294436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58368" y="3090672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435608" y="3090672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CCTV 화소·방향 개선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38928" y="309067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5대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64808" y="3090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6,000,000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796528" y="3090672"/>
            <a:ext cx="2642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가온동 · 바다동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8368" y="352958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58368" y="3675888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435608" y="3675888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등하교 안전지도 인력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138928" y="3675888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4인·월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64808" y="367588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7,200,000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796528" y="3675888"/>
            <a:ext cx="2642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다솜동 2인 × 2개월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658368" y="411480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58368" y="4261104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보완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1435608" y="4261104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조명 · 보행신호기 · 옐로카펫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138928" y="4261104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11개소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464808" y="426110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15,800,000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796528" y="4261104"/>
            <a:ext cx="2642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상위 6개 지점 분산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58368" y="470001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58368" y="4846320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보완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1435608" y="4846320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과속방지턱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138928" y="4846320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3개소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464808" y="484632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3,600,000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8796528" y="4846320"/>
            <a:ext cx="2642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다솜동 2 · 새벽동 1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658368" y="528523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749808" y="554126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①신설 후보는 10곳이지만 영향평가 6주 때문에 연내 최대 5대 — 긴급도 상위 4곳만 신설하고 나머지는 다음 연도로 넘깁니다.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49808" y="5925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다솜동 배정 1,900만원 = 38%(한도 40%) · 잔액 340만원은 현장 점검 후 재배정. 지금 다 쓰지 않는 것도 결정입니다.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CAPSTONE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모범답안 ⑥ — 스스로 밝힌 한계가 승인을 앞당깁니다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55648"/>
            <a:ext cx="48463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592824" y="1755648"/>
            <a:ext cx="4846320" cy="356616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011680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확인되지 않은 가정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2468880"/>
            <a:ext cx="41879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데이터가 답하지 못하는 것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24128" y="3072384"/>
            <a:ext cx="409651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카메라가 실제로 150m를 덮는가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사고 기록은 신고 편향이 있다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감시가 보행 안전을 높이는가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87552" y="4023360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4297680"/>
            <a:ext cx="41879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상위 5곳은 현장 점검 후 확정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22008" y="2011680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 5분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22008" y="2468880"/>
            <a:ext cx="41879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순서로 말한다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958584" y="3072384"/>
            <a:ext cx="409651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 → 유형 → 시연 → 예산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시연에서 필터를 껐다 켠다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요청은 한 문장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22008" y="4023360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22008" y="4297680"/>
            <a:ext cx="41879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“왜 신설이 아니라 개선입니까”에 답하면 끝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9808" y="5522976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한계를 먼저 밝힌 보고서가 질문이 적고 더 빨리 승인됩니다.</a:t>
            </a:r>
            <a:endParaRPr lang="en-US" sz="2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123444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없는 곳을 찾는 게 아닙니다.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49808" y="2039112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할지를 정하는 겁니다.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2843784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지도는 그 결과일 뿐입니다.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3913632"/>
            <a:ext cx="10469880" cy="0"/>
          </a:xfrm>
          <a:prstGeom prst="line">
            <a:avLst/>
          </a:prstGeom>
          <a:noFill/>
          <a:ln w="1270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49808" y="4315968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공개데이터 세 개에서</a:t>
            </a:r>
            <a:endParaRPr lang="en-US" sz="24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현장에 들고 갈 조치 목록 한 장으로.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0" y="416052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0" y="493776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캡스톤 60~75분 · 6단계 · 산출물 3종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5303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가이드·모범답안·데이터 별첨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5833872"/>
            <a:ext cx="10597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A9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 · 중급 캡스톤 · 컬럼 매핑 · 조치 유형 · 미대응 지도 · 예산 제약 · Final Audit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3576</Words>
  <Application>Microsoft Office PowerPoint</Application>
  <PresentationFormat>와이드스크린</PresentationFormat>
  <Paragraphs>604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2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哥 大</cp:lastModifiedBy>
  <cp:revision>1</cp:revision>
  <dcterms:created xsi:type="dcterms:W3CDTF">2026-09-05T02:11:49Z</dcterms:created>
  <dcterms:modified xsi:type="dcterms:W3CDTF">2026-09-05T04:13:17Z</dcterms:modified>
</cp:coreProperties>
</file>